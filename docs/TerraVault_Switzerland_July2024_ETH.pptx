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8"/>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A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4660"/>
  </p:normalViewPr>
  <p:slideViewPr>
    <p:cSldViewPr snapToGrid="0" showGuides="1">
      <p:cViewPr varScale="1">
        <p:scale>
          <a:sx n="128" d="100"/>
          <a:sy n="128" d="100"/>
        </p:scale>
        <p:origin x="520" y="176"/>
      </p:cViewPr>
      <p:guideLst>
        <p:guide orient="horz" pos="2160"/>
        <p:guide pos="3840"/>
      </p:guideLst>
    </p:cSldViewPr>
  </p:slideViewPr>
  <p:notesTextViewPr>
    <p:cViewPr>
      <p:scale>
        <a:sx n="1" d="1"/>
        <a:sy n="1" d="1"/>
      </p:scale>
      <p:origin x="0" y="0"/>
    </p:cViewPr>
  </p:notesTextViewPr>
  <p:notesViewPr>
    <p:cSldViewPr snapToGrid="0" showGuides="1">
      <p:cViewPr varScale="1">
        <p:scale>
          <a:sx n="80" d="100"/>
          <a:sy n="80" d="100"/>
        </p:scale>
        <p:origin x="4176" y="45"/>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24.05.23</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‹Nr.›</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24.05.23</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‹Nr.›</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month, one country, two independent processing routes. The pilot asked whether both give the same national picture and what each costs to run. Short answer: they agree nationally, and swissEO is about 2.2x faster end to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boundary, same grid, same equations. What differs is upstream: 65 locally downloaded scenes versus 16 published orbit mosaics, and two different quality-mask definitions. The 11.6 % and the 43.2 % are not the same quantity and must not be compared directly.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result. Eight panels, four indices, two sources, one colour scale. The agreement is qualitative and national. The white areas are the interesting part and the next slide is about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rectangular notch in the Copernicus panel is a coverage artefact of the accepted scene set, not a dead zone. This is the caveat to repeat if anyone reads the atlas as a change map.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swissEO wins end to end because it starts from already-assembled mosaics; Copernicus is faster at the index stage. Both numbers are real measurements but they are not a controlled comparison of algorithms.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is done and clean. The open item is a number for how much the two products actually agree, pixel by pixel — that is the natural next task.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finding, not the machinery. Offer to walk through the FORCE appendix if anyone asks why there are only two sources.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Atlas SHA-256: 887540f7ede7d5859ee0c70107480cc13fa4dfac6780c9c416900700db9e6343. The .tif files are the scientific product at 20 m — those are what to open in QGIS or GDAL. The PNGs in the reports tree are previews rendered from them, not the data. Everything needs the upscale share mounted at /Volumes/upscale. The manifests carry the processing contract and provenance.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for credibility: FORCE was not skipped, it was run and it broke on storage, for an identifiable implementation reason rather than a fundamental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exclusion is reversible and cheap to revisit, provided the aggregation is rewritten to clip first and to refuse to start without a storage preflight.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01">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de-DE" noProof="0"/>
              <a:t>Bild durch Klicken auf Symbol hinzufügen</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1"/>
          </a:solidFill>
        </p:spPr>
        <p:txBody>
          <a:bodyPr lIns="1080000" tIns="252000" anchor="t" anchorCtr="0"/>
          <a:lstStyle>
            <a:lvl1pPr algn="l">
              <a:lnSpc>
                <a:spcPct val="100000"/>
              </a:lnSpc>
              <a:defRPr sz="3600">
                <a:solidFill>
                  <a:schemeClr val="bg1"/>
                </a:solidFill>
              </a:defRPr>
            </a:lvl1pPr>
          </a:lstStyle>
          <a:p>
            <a:r>
              <a:rPr lang="de-DE" noProof="0"/>
              <a:t>Mastertitelformat bearbeiten</a:t>
            </a:r>
            <a:endParaRPr lang="de-CH" noProof="0" dirty="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9" name="Bildplatzhalter 8">
            <a:extLst>
              <a:ext uri="{FF2B5EF4-FFF2-40B4-BE49-F238E27FC236}">
                <a16:creationId xmlns:a16="http://schemas.microsoft.com/office/drawing/2014/main" id="{C3C296D1-2CD0-479F-A866-6EC741D2293B}"/>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4" name="Textplatzhalter 3">
            <a:extLst>
              <a:ext uri="{FF2B5EF4-FFF2-40B4-BE49-F238E27FC236}">
                <a16:creationId xmlns:a16="http://schemas.microsoft.com/office/drawing/2014/main" id="{EE41BE31-9613-4103-99FF-7DCFF643B329}"/>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6" name="Textplatzhalter 5">
            <a:extLst>
              <a:ext uri="{FF2B5EF4-FFF2-40B4-BE49-F238E27FC236}">
                <a16:creationId xmlns:a16="http://schemas.microsoft.com/office/drawing/2014/main" id="{EDEB298C-798E-4D73-9DD6-F896C06530C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4293381049"/>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640" userDrawn="1">
          <p15:clr>
            <a:srgbClr val="FBAE40"/>
          </p15:clr>
        </p15:guide>
        <p15:guide id="4" orient="horz" pos="3952" userDrawn="1">
          <p15:clr>
            <a:srgbClr val="FBAE40"/>
          </p15:clr>
        </p15:guide>
        <p15:guide id="5" pos="61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02">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8A01615F-450E-43D0-B554-DA3FBD48DF34}"/>
              </a:ext>
            </a:extLst>
          </p:cNvPr>
          <p:cNvSpPr>
            <a:spLocks noGrp="1"/>
          </p:cNvSpPr>
          <p:nvPr>
            <p:ph type="pic" sz="quarter" idx="11"/>
          </p:nvPr>
        </p:nvSpPr>
        <p:spPr>
          <a:xfrm>
            <a:off x="731838" y="1016000"/>
            <a:ext cx="10728325" cy="5256000"/>
          </a:xfrm>
        </p:spPr>
        <p:txBody>
          <a:bodyPr lIns="0" tIns="0" rIns="5580000" anchor="ctr" anchorCtr="0"/>
          <a:lstStyle>
            <a:lvl1pPr marL="0" indent="0" algn="ctr">
              <a:buNone/>
              <a:defRPr/>
            </a:lvl1pPr>
          </a:lstStyle>
          <a:p>
            <a:r>
              <a:rPr lang="de-DE" noProof="0"/>
              <a:t>Bild durch Klicken auf Symbol hinzufügen</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6504000" y="2957494"/>
            <a:ext cx="5688000" cy="2268000"/>
          </a:xfrm>
          <a:solidFill>
            <a:schemeClr val="accent6"/>
          </a:solidFill>
        </p:spPr>
        <p:txBody>
          <a:bodyPr lIns="324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9" name="Textplatzhalter 3">
            <a:extLst>
              <a:ext uri="{FF2B5EF4-FFF2-40B4-BE49-F238E27FC236}">
                <a16:creationId xmlns:a16="http://schemas.microsoft.com/office/drawing/2014/main" id="{003A487C-8977-4264-A8A1-D6C1DB604682}"/>
              </a:ext>
            </a:extLst>
          </p:cNvPr>
          <p:cNvSpPr>
            <a:spLocks noGrp="1"/>
          </p:cNvSpPr>
          <p:nvPr>
            <p:ph type="body" sz="quarter" idx="13"/>
          </p:nvPr>
        </p:nvSpPr>
        <p:spPr>
          <a:xfrm>
            <a:off x="6845210" y="4639666"/>
            <a:ext cx="4320000" cy="46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13" name="Bildplatzhalter 8">
            <a:extLst>
              <a:ext uri="{FF2B5EF4-FFF2-40B4-BE49-F238E27FC236}">
                <a16:creationId xmlns:a16="http://schemas.microsoft.com/office/drawing/2014/main" id="{E91D3734-CD8F-4F94-A813-570EF31C4732}"/>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8" name="Textplatzhalter 5">
            <a:extLst>
              <a:ext uri="{FF2B5EF4-FFF2-40B4-BE49-F238E27FC236}">
                <a16:creationId xmlns:a16="http://schemas.microsoft.com/office/drawing/2014/main" id="{547D2927-4A99-4714-8EBA-F773EAA26308}"/>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10024114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03">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62D94F76-218E-49F2-87F8-05982912ED18}"/>
              </a:ext>
            </a:extLst>
          </p:cNvPr>
          <p:cNvSpPr/>
          <p:nvPr userDrawn="1"/>
        </p:nvSpPr>
        <p:spPr>
          <a:xfrm>
            <a:off x="731838" y="1016000"/>
            <a:ext cx="10728325" cy="5257800"/>
          </a:xfrm>
          <a:prstGeom prst="rect">
            <a:avLst/>
          </a:prstGeom>
          <a:solidFill>
            <a:srgbClr val="8E67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1" y="1940405"/>
            <a:ext cx="10188000" cy="3420000"/>
          </a:xfrm>
          <a:solidFill>
            <a:schemeClr val="accent3"/>
          </a:solidFill>
          <a:ln>
            <a:noFill/>
          </a:ln>
        </p:spPr>
        <p:txBody>
          <a:bodyPr lIns="1080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7" name="Textplatzhalter 3">
            <a:extLst>
              <a:ext uri="{FF2B5EF4-FFF2-40B4-BE49-F238E27FC236}">
                <a16:creationId xmlns:a16="http://schemas.microsoft.com/office/drawing/2014/main" id="{0503E57F-F89F-431B-8D38-7CC97B7C201A}"/>
              </a:ext>
            </a:extLst>
          </p:cNvPr>
          <p:cNvSpPr>
            <a:spLocks noGrp="1"/>
          </p:cNvSpPr>
          <p:nvPr>
            <p:ph type="body" sz="quarter" idx="13"/>
          </p:nvPr>
        </p:nvSpPr>
        <p:spPr>
          <a:xfrm>
            <a:off x="1078516" y="4217884"/>
            <a:ext cx="864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12" name="Bildplatzhalter 8">
            <a:extLst>
              <a:ext uri="{FF2B5EF4-FFF2-40B4-BE49-F238E27FC236}">
                <a16:creationId xmlns:a16="http://schemas.microsoft.com/office/drawing/2014/main" id="{1BEB6197-C509-4752-B57E-CEE955F5D926}"/>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8" name="Textplatzhalter 5">
            <a:extLst>
              <a:ext uri="{FF2B5EF4-FFF2-40B4-BE49-F238E27FC236}">
                <a16:creationId xmlns:a16="http://schemas.microsoft.com/office/drawing/2014/main" id="{4ADF7DEC-21BD-45CA-9E91-B9F58A69F62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3924069494"/>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0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731837" y="1016000"/>
            <a:ext cx="10728326" cy="5256000"/>
          </a:xfrm>
          <a:solidFill>
            <a:schemeClr val="accent6"/>
          </a:solidFill>
          <a:ln>
            <a:noFill/>
          </a:ln>
        </p:spPr>
        <p:txBody>
          <a:bodyPr lIns="324000" tIns="11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6" name="Textplatzhalter 3">
            <a:extLst>
              <a:ext uri="{FF2B5EF4-FFF2-40B4-BE49-F238E27FC236}">
                <a16:creationId xmlns:a16="http://schemas.microsoft.com/office/drawing/2014/main" id="{5FCAD79B-EF47-46A0-9575-229F3DAA72F5}"/>
              </a:ext>
            </a:extLst>
          </p:cNvPr>
          <p:cNvSpPr>
            <a:spLocks noGrp="1"/>
          </p:cNvSpPr>
          <p:nvPr>
            <p:ph type="body" sz="quarter" idx="13"/>
          </p:nvPr>
        </p:nvSpPr>
        <p:spPr>
          <a:xfrm>
            <a:off x="1078515" y="5122625"/>
            <a:ext cx="10044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8" name="Bildplatzhalter 8">
            <a:extLst>
              <a:ext uri="{FF2B5EF4-FFF2-40B4-BE49-F238E27FC236}">
                <a16:creationId xmlns:a16="http://schemas.microsoft.com/office/drawing/2014/main" id="{72236FC6-C8FF-43C1-86B9-BF112345926F}"/>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7" name="Textplatzhalter 5">
            <a:extLst>
              <a:ext uri="{FF2B5EF4-FFF2-40B4-BE49-F238E27FC236}">
                <a16:creationId xmlns:a16="http://schemas.microsoft.com/office/drawing/2014/main" id="{789A3267-E086-4EC3-A0BB-F8ECD01A5C7E}"/>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732532068"/>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04 – Uni Zürich">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de-DE" noProof="0"/>
              <a:t>Bild durch Klicken auf Symbol hinzufügen</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2"/>
          </a:solidFill>
        </p:spPr>
        <p:txBody>
          <a:bodyPr lIns="1080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4" name="Grafik 3">
            <a:extLst>
              <a:ext uri="{FF2B5EF4-FFF2-40B4-BE49-F238E27FC236}">
                <a16:creationId xmlns:a16="http://schemas.microsoft.com/office/drawing/2014/main" id="{793E2EDD-B19F-478D-BB03-AD55EC1E86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7672" y="228020"/>
            <a:ext cx="3679200" cy="552508"/>
          </a:xfrm>
          <a:prstGeom prst="rect">
            <a:avLst/>
          </a:prstGeom>
        </p:spPr>
      </p:pic>
      <p:sp>
        <p:nvSpPr>
          <p:cNvPr id="7" name="Textplatzhalter 3">
            <a:extLst>
              <a:ext uri="{FF2B5EF4-FFF2-40B4-BE49-F238E27FC236}">
                <a16:creationId xmlns:a16="http://schemas.microsoft.com/office/drawing/2014/main" id="{D364BCB8-820F-4C3A-BA37-7048A4C8D4C3}"/>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11" name="Bildplatzhalter 8">
            <a:extLst>
              <a:ext uri="{FF2B5EF4-FFF2-40B4-BE49-F238E27FC236}">
                <a16:creationId xmlns:a16="http://schemas.microsoft.com/office/drawing/2014/main" id="{A73913C2-8DFE-4F15-B2DB-2A6D5C267009}"/>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9" name="Textplatzhalter 5">
            <a:extLst>
              <a:ext uri="{FF2B5EF4-FFF2-40B4-BE49-F238E27FC236}">
                <a16:creationId xmlns:a16="http://schemas.microsoft.com/office/drawing/2014/main" id="{791A1AD7-DB7D-4C75-BEFB-EB6D34D3B2AB}"/>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278925752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lvl1pPr marL="539750" indent="-539750">
              <a:buFont typeface="+mj-lt"/>
              <a:buAutoNum type="arabicPeriod"/>
              <a:defRPr/>
            </a:lvl1pPr>
            <a:lvl2pPr marL="1079500" indent="-539750">
              <a:buFont typeface="+mj-lt"/>
              <a:buAutoNum type="arabicPeriod"/>
              <a:defRPr/>
            </a:lvl2pPr>
            <a:lvl3pPr marL="1612900" indent="-533400">
              <a:buFont typeface="+mj-lt"/>
              <a:buAutoNum type="arabicPeriod"/>
              <a:defRPr/>
            </a:lvl3pPr>
            <a:lvl4pPr marL="2152650" indent="-539750">
              <a:buFont typeface="+mj-lt"/>
              <a:buAutoNum type="arabicPeriod"/>
              <a:defRPr/>
            </a:lvl4pPr>
            <a:lvl5pPr marL="2692400" indent="-539750">
              <a:buFont typeface="+mj-lt"/>
              <a:buAutoNum type="arabicPeriod"/>
              <a:defRPr/>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332D50A-E6CC-4D88-8908-F2129032F4C7}" type="datetime1">
              <a:rPr lang="de-CH" noProof="0" smtClean="0"/>
              <a:t>24.05.23</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dirty="0"/>
              <a:t>Organisationseinheit verbal</a:t>
            </a:r>
            <a:endParaRPr lang="de-CH" noProof="0" dirty="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‹Nr.›</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2221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1B96697-4585-4368-989A-16003D150648}" type="datetime1">
              <a:rPr lang="de-CH" noProof="0" smtClean="0"/>
              <a:t>24.05.23</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dirty="0"/>
              <a:t>Organisationseinheit verbal</a:t>
            </a:r>
            <a:endParaRPr lang="de-CH" noProof="0" dirty="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‹Nr.›</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1888753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mit Fussn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A01E762-278A-4155-9BEB-7C2CB2386E92}" type="datetime1">
              <a:rPr lang="de-CH" noProof="0" smtClean="0"/>
              <a:t>24.05.23</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‹Nr.›</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Textplatzhalter 10">
            <a:extLst>
              <a:ext uri="{FF2B5EF4-FFF2-40B4-BE49-F238E27FC236}">
                <a16:creationId xmlns:a16="http://schemas.microsoft.com/office/drawing/2014/main" id="{2F6D94FA-21C6-4AE0-AA4F-3A077810ED93}"/>
              </a:ext>
            </a:extLst>
          </p:cNvPr>
          <p:cNvSpPr>
            <a:spLocks noGrp="1"/>
          </p:cNvSpPr>
          <p:nvPr>
            <p:ph type="body" sz="quarter" idx="13"/>
          </p:nvPr>
        </p:nvSpPr>
        <p:spPr>
          <a:xfrm>
            <a:off x="731836" y="5570135"/>
            <a:ext cx="5364164" cy="721233"/>
          </a:xfrm>
        </p:spPr>
        <p:txBody>
          <a:bodyPr anchor="b" anchorCtr="0"/>
          <a:lstStyle>
            <a:lvl1pPr marL="179388" indent="-179388">
              <a:spcBef>
                <a:spcPts val="0"/>
              </a:spcBef>
              <a:buFont typeface="+mj-lt"/>
              <a:buAutoNum type="arabicPeriod"/>
              <a:defRPr sz="800"/>
            </a:lvl1pPr>
            <a:lvl2pPr marL="266700" indent="0">
              <a:buNone/>
              <a:defRPr sz="800"/>
            </a:lvl2pPr>
            <a:lvl3pPr marL="538163" indent="0">
              <a:buNone/>
              <a:defRPr sz="800"/>
            </a:lvl3pPr>
            <a:lvl4pPr marL="804862" indent="0">
              <a:buNone/>
              <a:defRPr sz="800"/>
            </a:lvl4pPr>
            <a:lvl5pPr marL="1076325" indent="0">
              <a:buNone/>
              <a:defRPr sz="800"/>
            </a:lvl5pPr>
          </a:lstStyle>
          <a:p>
            <a:pPr lvl="0"/>
            <a:r>
              <a:rPr lang="de-DE" noProof="0"/>
              <a:t>Mastertextformat bearbeiten</a:t>
            </a:r>
          </a:p>
        </p:txBody>
      </p:sp>
    </p:spTree>
    <p:extLst>
      <p:ext uri="{BB962C8B-B14F-4D97-AF65-F5344CB8AC3E}">
        <p14:creationId xmlns:p14="http://schemas.microsoft.com/office/powerpoint/2010/main" val="42600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slide">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a:xfrm>
            <a:off x="731837" y="2224781"/>
            <a:ext cx="10728325" cy="1260000"/>
          </a:xfrm>
        </p:spPr>
        <p:txBody>
          <a:bodyPr/>
          <a:lstStyle>
            <a:lvl1pPr>
              <a:lnSpc>
                <a:spcPct val="100000"/>
              </a:lnSpc>
              <a:defRPr sz="3600">
                <a:solidFill>
                  <a:schemeClr val="bg1"/>
                </a:solidFill>
              </a:defRPr>
            </a:lvl1pPr>
          </a:lstStyle>
          <a:p>
            <a:r>
              <a:rPr lang="de-DE" noProof="0"/>
              <a:t>Mastertitelformat bearbeiten</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lvl1pPr>
              <a:defRPr>
                <a:solidFill>
                  <a:schemeClr val="bg1"/>
                </a:solidFill>
              </a:defRPr>
            </a:lvl1pPr>
          </a:lstStyle>
          <a:p>
            <a:fld id="{6C4EAFE7-317E-4912-B75C-DD6945F82242}" type="datetime1">
              <a:rPr lang="de-CH" noProof="0" smtClean="0"/>
              <a:t>24.05.23</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lvl1pPr>
              <a:defRPr>
                <a:solidFill>
                  <a:schemeClr val="bg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lvl1pPr>
              <a:defRPr>
                <a:solidFill>
                  <a:schemeClr val="bg1"/>
                </a:solidFill>
              </a:defRPr>
            </a:lvl1pPr>
          </a:lstStyle>
          <a:p>
            <a:fld id="{5ACA52AF-F19D-405C-AD5F-7D94B96A5CC3}" type="slidenum">
              <a:rPr lang="de-CH" noProof="0" smtClean="0"/>
              <a:pPr/>
              <a:t>‹Nr.›</a:t>
            </a:fld>
            <a:endParaRPr lang="de-CH" noProof="0"/>
          </a:p>
        </p:txBody>
      </p:sp>
      <p:grpSp>
        <p:nvGrpSpPr>
          <p:cNvPr id="10" name="Grafik 6">
            <a:extLst>
              <a:ext uri="{FF2B5EF4-FFF2-40B4-BE49-F238E27FC236}">
                <a16:creationId xmlns:a16="http://schemas.microsoft.com/office/drawing/2014/main" id="{7F7C476A-2849-4D68-9FA2-3A5CFC13C833}"/>
              </a:ext>
            </a:extLst>
          </p:cNvPr>
          <p:cNvGrpSpPr/>
          <p:nvPr/>
        </p:nvGrpSpPr>
        <p:grpSpPr>
          <a:xfrm>
            <a:off x="731837" y="6507088"/>
            <a:ext cx="984462" cy="162000"/>
            <a:chOff x="731837" y="6507088"/>
            <a:chExt cx="984462" cy="162000"/>
          </a:xfrm>
          <a:solidFill>
            <a:schemeClr val="bg1"/>
          </a:solidFill>
        </p:grpSpPr>
        <p:grpSp>
          <p:nvGrpSpPr>
            <p:cNvPr id="12" name="Grafik 6">
              <a:extLst>
                <a:ext uri="{FF2B5EF4-FFF2-40B4-BE49-F238E27FC236}">
                  <a16:creationId xmlns:a16="http://schemas.microsoft.com/office/drawing/2014/main" id="{7F7C476A-2849-4D68-9FA2-3A5CFC13C833}"/>
                </a:ext>
              </a:extLst>
            </p:cNvPr>
            <p:cNvGrpSpPr/>
            <p:nvPr/>
          </p:nvGrpSpPr>
          <p:grpSpPr>
            <a:xfrm>
              <a:off x="1266489" y="6555186"/>
              <a:ext cx="197463" cy="110963"/>
              <a:chOff x="1266489" y="6555186"/>
              <a:chExt cx="197463" cy="110963"/>
            </a:xfrm>
            <a:grpFill/>
          </p:grpSpPr>
          <p:sp>
            <p:nvSpPr>
              <p:cNvPr id="13" name="Freihandform: Form 12">
                <a:extLst>
                  <a:ext uri="{FF2B5EF4-FFF2-40B4-BE49-F238E27FC236}">
                    <a16:creationId xmlns:a16="http://schemas.microsoft.com/office/drawing/2014/main" id="{18BB0752-F87C-44D9-A9A5-97AF1DEDA1AE}"/>
                  </a:ext>
                </a:extLst>
              </p:cNvPr>
              <p:cNvSpPr/>
              <p:nvPr/>
            </p:nvSpPr>
            <p:spPr>
              <a:xfrm>
                <a:off x="1266489" y="6556934"/>
                <a:ext cx="95902" cy="109216"/>
              </a:xfrm>
              <a:custGeom>
                <a:avLst/>
                <a:gdLst>
                  <a:gd name="connsiteX0" fmla="*/ 66742 w 95902"/>
                  <a:gd name="connsiteY0" fmla="*/ 65797 h 109216"/>
                  <a:gd name="connsiteX1" fmla="*/ 35339 w 95902"/>
                  <a:gd name="connsiteY1" fmla="*/ 95082 h 109216"/>
                  <a:gd name="connsiteX2" fmla="*/ 15953 w 95902"/>
                  <a:gd name="connsiteY2" fmla="*/ 79537 h 109216"/>
                  <a:gd name="connsiteX3" fmla="*/ 15899 w 95902"/>
                  <a:gd name="connsiteY3" fmla="*/ 76265 h 109216"/>
                  <a:gd name="connsiteX4" fmla="*/ 16896 w 95902"/>
                  <a:gd name="connsiteY4" fmla="*/ 66295 h 109216"/>
                  <a:gd name="connsiteX5" fmla="*/ 30230 w 95902"/>
                  <a:gd name="connsiteY5" fmla="*/ 0 h 109216"/>
                  <a:gd name="connsiteX6" fmla="*/ 30230 w 95902"/>
                  <a:gd name="connsiteY6" fmla="*/ 0 h 109216"/>
                  <a:gd name="connsiteX7" fmla="*/ 14528 w 95902"/>
                  <a:gd name="connsiteY7" fmla="*/ 0 h 109216"/>
                  <a:gd name="connsiteX8" fmla="*/ 1194 w 95902"/>
                  <a:gd name="connsiteY8" fmla="*/ 67791 h 109216"/>
                  <a:gd name="connsiteX9" fmla="*/ 1194 w 95902"/>
                  <a:gd name="connsiteY9" fmla="*/ 68788 h 109216"/>
                  <a:gd name="connsiteX10" fmla="*/ 73 w 95902"/>
                  <a:gd name="connsiteY10" fmla="*/ 78508 h 109216"/>
                  <a:gd name="connsiteX11" fmla="*/ 26638 w 95902"/>
                  <a:gd name="connsiteY11" fmla="*/ 109122 h 109216"/>
                  <a:gd name="connsiteX12" fmla="*/ 29980 w 95902"/>
                  <a:gd name="connsiteY12" fmla="*/ 109163 h 109216"/>
                  <a:gd name="connsiteX13" fmla="*/ 61384 w 95902"/>
                  <a:gd name="connsiteY13" fmla="*/ 96702 h 109216"/>
                  <a:gd name="connsiteX14" fmla="*/ 59265 w 95902"/>
                  <a:gd name="connsiteY14" fmla="*/ 107917 h 109216"/>
                  <a:gd name="connsiteX15" fmla="*/ 59265 w 95902"/>
                  <a:gd name="connsiteY15" fmla="*/ 107917 h 109216"/>
                  <a:gd name="connsiteX16" fmla="*/ 74842 w 95902"/>
                  <a:gd name="connsiteY16" fmla="*/ 107917 h 109216"/>
                  <a:gd name="connsiteX17" fmla="*/ 95902 w 95902"/>
                  <a:gd name="connsiteY17" fmla="*/ 0 h 109216"/>
                  <a:gd name="connsiteX18" fmla="*/ 95902 w 95902"/>
                  <a:gd name="connsiteY18" fmla="*/ 0 h 109216"/>
                  <a:gd name="connsiteX19" fmla="*/ 79951 w 95902"/>
                  <a:gd name="connsiteY19" fmla="*/ 0 h 109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902" h="109216">
                    <a:moveTo>
                      <a:pt x="66742" y="65797"/>
                    </a:moveTo>
                    <a:cubicBezTo>
                      <a:pt x="65228" y="82115"/>
                      <a:pt x="51723" y="94709"/>
                      <a:pt x="35339" y="95082"/>
                    </a:cubicBezTo>
                    <a:cubicBezTo>
                      <a:pt x="25692" y="96142"/>
                      <a:pt x="17013" y="89183"/>
                      <a:pt x="15953" y="79537"/>
                    </a:cubicBezTo>
                    <a:cubicBezTo>
                      <a:pt x="15833" y="78450"/>
                      <a:pt x="15814" y="77355"/>
                      <a:pt x="15899" y="76265"/>
                    </a:cubicBezTo>
                    <a:cubicBezTo>
                      <a:pt x="15976" y="72921"/>
                      <a:pt x="16309" y="69588"/>
                      <a:pt x="16896" y="66295"/>
                    </a:cubicBezTo>
                    <a:lnTo>
                      <a:pt x="30230" y="0"/>
                    </a:lnTo>
                    <a:lnTo>
                      <a:pt x="30230" y="0"/>
                    </a:lnTo>
                    <a:lnTo>
                      <a:pt x="14528" y="0"/>
                    </a:lnTo>
                    <a:lnTo>
                      <a:pt x="1194" y="67791"/>
                    </a:lnTo>
                    <a:lnTo>
                      <a:pt x="1194" y="68788"/>
                    </a:lnTo>
                    <a:cubicBezTo>
                      <a:pt x="472" y="71978"/>
                      <a:pt x="95" y="75237"/>
                      <a:pt x="73" y="78508"/>
                    </a:cubicBezTo>
                    <a:cubicBezTo>
                      <a:pt x="-1045" y="94298"/>
                      <a:pt x="10848" y="108004"/>
                      <a:pt x="26638" y="109122"/>
                    </a:cubicBezTo>
                    <a:cubicBezTo>
                      <a:pt x="27751" y="109200"/>
                      <a:pt x="28866" y="109214"/>
                      <a:pt x="29980" y="109163"/>
                    </a:cubicBezTo>
                    <a:cubicBezTo>
                      <a:pt x="41760" y="109765"/>
                      <a:pt x="53221" y="105218"/>
                      <a:pt x="61384" y="96702"/>
                    </a:cubicBezTo>
                    <a:lnTo>
                      <a:pt x="59265" y="107917"/>
                    </a:lnTo>
                    <a:lnTo>
                      <a:pt x="59265" y="107917"/>
                    </a:lnTo>
                    <a:lnTo>
                      <a:pt x="74842" y="107917"/>
                    </a:lnTo>
                    <a:lnTo>
                      <a:pt x="95902" y="0"/>
                    </a:lnTo>
                    <a:lnTo>
                      <a:pt x="95902" y="0"/>
                    </a:lnTo>
                    <a:lnTo>
                      <a:pt x="79951" y="0"/>
                    </a:lnTo>
                    <a:close/>
                  </a:path>
                </a:pathLst>
              </a:custGeom>
              <a:grpFill/>
              <a:ln w="12419" cap="flat">
                <a:noFill/>
                <a:prstDash val="solid"/>
                <a:miter/>
              </a:ln>
            </p:spPr>
            <p:txBody>
              <a:bodyPr rtlCol="0" anchor="ctr"/>
              <a:lstStyle/>
              <a:p>
                <a:endParaRPr lang="de-CH" noProof="0"/>
              </a:p>
            </p:txBody>
          </p:sp>
          <p:sp>
            <p:nvSpPr>
              <p:cNvPr id="14" name="Freihandform: Form 13">
                <a:extLst>
                  <a:ext uri="{FF2B5EF4-FFF2-40B4-BE49-F238E27FC236}">
                    <a16:creationId xmlns:a16="http://schemas.microsoft.com/office/drawing/2014/main" id="{ED44DE23-7081-4AC9-BF06-502BEC71C004}"/>
                  </a:ext>
                </a:extLst>
              </p:cNvPr>
              <p:cNvSpPr/>
              <p:nvPr/>
            </p:nvSpPr>
            <p:spPr>
              <a:xfrm>
                <a:off x="1376472" y="6555186"/>
                <a:ext cx="87480" cy="109664"/>
              </a:xfrm>
              <a:custGeom>
                <a:avLst/>
                <a:gdLst>
                  <a:gd name="connsiteX0" fmla="*/ 64302 w 87480"/>
                  <a:gd name="connsiteY0" fmla="*/ 3 h 109664"/>
                  <a:gd name="connsiteX1" fmla="*/ 34518 w 87480"/>
                  <a:gd name="connsiteY1" fmla="*/ 14209 h 109664"/>
                  <a:gd name="connsiteX2" fmla="*/ 36886 w 87480"/>
                  <a:gd name="connsiteY2" fmla="*/ 1747 h 109664"/>
                  <a:gd name="connsiteX3" fmla="*/ 36886 w 87480"/>
                  <a:gd name="connsiteY3" fmla="*/ 1747 h 109664"/>
                  <a:gd name="connsiteX4" fmla="*/ 21434 w 87480"/>
                  <a:gd name="connsiteY4" fmla="*/ 1747 h 109664"/>
                  <a:gd name="connsiteX5" fmla="*/ 0 w 87480"/>
                  <a:gd name="connsiteY5" fmla="*/ 109664 h 109664"/>
                  <a:gd name="connsiteX6" fmla="*/ 0 w 87480"/>
                  <a:gd name="connsiteY6" fmla="*/ 109664 h 109664"/>
                  <a:gd name="connsiteX7" fmla="*/ 15826 w 87480"/>
                  <a:gd name="connsiteY7" fmla="*/ 109664 h 109664"/>
                  <a:gd name="connsiteX8" fmla="*/ 28288 w 87480"/>
                  <a:gd name="connsiteY8" fmla="*/ 43493 h 109664"/>
                  <a:gd name="connsiteX9" fmla="*/ 59940 w 87480"/>
                  <a:gd name="connsiteY9" fmla="*/ 14209 h 109664"/>
                  <a:gd name="connsiteX10" fmla="*/ 75019 w 87480"/>
                  <a:gd name="connsiteY10" fmla="*/ 21810 h 109664"/>
                  <a:gd name="connsiteX11" fmla="*/ 75019 w 87480"/>
                  <a:gd name="connsiteY11" fmla="*/ 21810 h 109664"/>
                  <a:gd name="connsiteX12" fmla="*/ 87480 w 87480"/>
                  <a:gd name="connsiteY12" fmla="*/ 10346 h 109664"/>
                  <a:gd name="connsiteX13" fmla="*/ 87480 w 87480"/>
                  <a:gd name="connsiteY13" fmla="*/ 10346 h 109664"/>
                  <a:gd name="connsiteX14" fmla="*/ 63928 w 87480"/>
                  <a:gd name="connsiteY14" fmla="*/ 252 h 10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480" h="109664">
                    <a:moveTo>
                      <a:pt x="64302" y="3"/>
                    </a:moveTo>
                    <a:cubicBezTo>
                      <a:pt x="52709" y="-136"/>
                      <a:pt x="41706" y="5111"/>
                      <a:pt x="34518" y="14209"/>
                    </a:cubicBezTo>
                    <a:lnTo>
                      <a:pt x="36886" y="1747"/>
                    </a:lnTo>
                    <a:lnTo>
                      <a:pt x="36886" y="1747"/>
                    </a:lnTo>
                    <a:lnTo>
                      <a:pt x="21434" y="1747"/>
                    </a:lnTo>
                    <a:lnTo>
                      <a:pt x="0" y="109664"/>
                    </a:lnTo>
                    <a:lnTo>
                      <a:pt x="0" y="109664"/>
                    </a:lnTo>
                    <a:lnTo>
                      <a:pt x="15826" y="109664"/>
                    </a:lnTo>
                    <a:lnTo>
                      <a:pt x="28288" y="43493"/>
                    </a:lnTo>
                    <a:cubicBezTo>
                      <a:pt x="30515" y="27438"/>
                      <a:pt x="43760" y="15183"/>
                      <a:pt x="59940" y="14209"/>
                    </a:cubicBezTo>
                    <a:cubicBezTo>
                      <a:pt x="65919" y="14072"/>
                      <a:pt x="71573" y="16922"/>
                      <a:pt x="75019" y="21810"/>
                    </a:cubicBezTo>
                    <a:lnTo>
                      <a:pt x="75019" y="21810"/>
                    </a:lnTo>
                    <a:lnTo>
                      <a:pt x="87480" y="10346"/>
                    </a:lnTo>
                    <a:lnTo>
                      <a:pt x="87480" y="10346"/>
                    </a:lnTo>
                    <a:cubicBezTo>
                      <a:pt x="81552" y="3603"/>
                      <a:pt x="72899" y="-105"/>
                      <a:pt x="63928" y="252"/>
                    </a:cubicBezTo>
                  </a:path>
                </a:pathLst>
              </a:custGeom>
              <a:grpFill/>
              <a:ln w="12419" cap="flat">
                <a:noFill/>
                <a:prstDash val="solid"/>
                <a:miter/>
              </a:ln>
            </p:spPr>
            <p:txBody>
              <a:bodyPr rtlCol="0" anchor="ctr"/>
              <a:lstStyle/>
              <a:p>
                <a:endParaRPr lang="de-CH" noProof="0"/>
              </a:p>
            </p:txBody>
          </p:sp>
        </p:grpSp>
        <p:sp>
          <p:nvSpPr>
            <p:cNvPr id="15" name="Freihandform: Form 14">
              <a:extLst>
                <a:ext uri="{FF2B5EF4-FFF2-40B4-BE49-F238E27FC236}">
                  <a16:creationId xmlns:a16="http://schemas.microsoft.com/office/drawing/2014/main" id="{18C24FD2-AEE2-43CA-8EB3-8E646C2E5E46}"/>
                </a:ext>
              </a:extLst>
            </p:cNvPr>
            <p:cNvSpPr/>
            <p:nvPr/>
          </p:nvSpPr>
          <p:spPr>
            <a:xfrm>
              <a:off x="1159517" y="6556560"/>
              <a:ext cx="96452" cy="108166"/>
            </a:xfrm>
            <a:custGeom>
              <a:avLst/>
              <a:gdLst>
                <a:gd name="connsiteX0" fmla="*/ 23303 w 96452"/>
                <a:gd name="connsiteY0" fmla="*/ 0 h 108166"/>
                <a:gd name="connsiteX1" fmla="*/ 20562 w 96452"/>
                <a:gd name="connsiteY1" fmla="*/ 13708 h 108166"/>
                <a:gd name="connsiteX2" fmla="*/ 20562 w 96452"/>
                <a:gd name="connsiteY2" fmla="*/ 13957 h 108166"/>
                <a:gd name="connsiteX3" fmla="*/ 74271 w 96452"/>
                <a:gd name="connsiteY3" fmla="*/ 13957 h 108166"/>
                <a:gd name="connsiteX4" fmla="*/ 2742 w 96452"/>
                <a:gd name="connsiteY4" fmla="*/ 94957 h 108166"/>
                <a:gd name="connsiteX5" fmla="*/ 2617 w 96452"/>
                <a:gd name="connsiteY5" fmla="*/ 94957 h 108166"/>
                <a:gd name="connsiteX6" fmla="*/ 0 w 96452"/>
                <a:gd name="connsiteY6" fmla="*/ 108166 h 108166"/>
                <a:gd name="connsiteX7" fmla="*/ 76265 w 96452"/>
                <a:gd name="connsiteY7" fmla="*/ 108166 h 108166"/>
                <a:gd name="connsiteX8" fmla="*/ 79006 w 96452"/>
                <a:gd name="connsiteY8" fmla="*/ 94209 h 108166"/>
                <a:gd name="connsiteX9" fmla="*/ 21932 w 96452"/>
                <a:gd name="connsiteY9" fmla="*/ 94209 h 108166"/>
                <a:gd name="connsiteX10" fmla="*/ 93835 w 96452"/>
                <a:gd name="connsiteY10" fmla="*/ 13209 h 108166"/>
                <a:gd name="connsiteX11" fmla="*/ 93835 w 96452"/>
                <a:gd name="connsiteY11" fmla="*/ 13209 h 108166"/>
                <a:gd name="connsiteX12" fmla="*/ 96452 w 96452"/>
                <a:gd name="connsiteY12" fmla="*/ 0 h 108166"/>
                <a:gd name="connsiteX13" fmla="*/ 23303 w 96452"/>
                <a:gd name="connsiteY13"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6452" h="108166">
                  <a:moveTo>
                    <a:pt x="23303" y="0"/>
                  </a:moveTo>
                  <a:lnTo>
                    <a:pt x="20562" y="13708"/>
                  </a:lnTo>
                  <a:lnTo>
                    <a:pt x="20562" y="13957"/>
                  </a:lnTo>
                  <a:lnTo>
                    <a:pt x="74271" y="13957"/>
                  </a:lnTo>
                  <a:lnTo>
                    <a:pt x="2742" y="94957"/>
                  </a:lnTo>
                  <a:lnTo>
                    <a:pt x="2617" y="94957"/>
                  </a:lnTo>
                  <a:lnTo>
                    <a:pt x="0" y="108166"/>
                  </a:lnTo>
                  <a:lnTo>
                    <a:pt x="76265" y="108166"/>
                  </a:lnTo>
                  <a:lnTo>
                    <a:pt x="79006" y="94209"/>
                  </a:lnTo>
                  <a:lnTo>
                    <a:pt x="21932" y="94209"/>
                  </a:lnTo>
                  <a:lnTo>
                    <a:pt x="93835" y="13209"/>
                  </a:lnTo>
                  <a:lnTo>
                    <a:pt x="93835" y="13209"/>
                  </a:lnTo>
                  <a:lnTo>
                    <a:pt x="96452" y="0"/>
                  </a:lnTo>
                  <a:lnTo>
                    <a:pt x="23303" y="0"/>
                  </a:lnTo>
                  <a:close/>
                </a:path>
              </a:pathLst>
            </a:custGeom>
            <a:grpFill/>
            <a:ln w="12419" cap="flat">
              <a:noFill/>
              <a:prstDash val="solid"/>
              <a:miter/>
            </a:ln>
          </p:spPr>
          <p:txBody>
            <a:bodyPr rtlCol="0" anchor="ctr"/>
            <a:lstStyle/>
            <a:p>
              <a:endParaRPr lang="de-CH" noProof="0"/>
            </a:p>
          </p:txBody>
        </p:sp>
        <p:sp>
          <p:nvSpPr>
            <p:cNvPr id="16" name="Freihandform: Form 15">
              <a:extLst>
                <a:ext uri="{FF2B5EF4-FFF2-40B4-BE49-F238E27FC236}">
                  <a16:creationId xmlns:a16="http://schemas.microsoft.com/office/drawing/2014/main" id="{AEE7F6F4-4D2C-45B3-A061-9606B2BD36A7}"/>
                </a:ext>
              </a:extLst>
            </p:cNvPr>
            <p:cNvSpPr/>
            <p:nvPr/>
          </p:nvSpPr>
          <p:spPr>
            <a:xfrm>
              <a:off x="1466445" y="6556560"/>
              <a:ext cx="37259" cy="108166"/>
            </a:xfrm>
            <a:custGeom>
              <a:avLst/>
              <a:gdLst>
                <a:gd name="connsiteX0" fmla="*/ 21683 w 37259"/>
                <a:gd name="connsiteY0" fmla="*/ 0 h 108166"/>
                <a:gd name="connsiteX1" fmla="*/ 0 w 37259"/>
                <a:gd name="connsiteY1" fmla="*/ 107917 h 108166"/>
                <a:gd name="connsiteX2" fmla="*/ 0 w 37259"/>
                <a:gd name="connsiteY2" fmla="*/ 108166 h 108166"/>
                <a:gd name="connsiteX3" fmla="*/ 15702 w 37259"/>
                <a:gd name="connsiteY3" fmla="*/ 108166 h 108166"/>
                <a:gd name="connsiteX4" fmla="*/ 37260 w 37259"/>
                <a:gd name="connsiteY4" fmla="*/ 0 h 108166"/>
                <a:gd name="connsiteX5" fmla="*/ 21683 w 37259"/>
                <a:gd name="connsiteY5"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59" h="108166">
                  <a:moveTo>
                    <a:pt x="21683" y="0"/>
                  </a:moveTo>
                  <a:lnTo>
                    <a:pt x="0" y="107917"/>
                  </a:lnTo>
                  <a:lnTo>
                    <a:pt x="0" y="108166"/>
                  </a:lnTo>
                  <a:lnTo>
                    <a:pt x="15702" y="108166"/>
                  </a:lnTo>
                  <a:lnTo>
                    <a:pt x="37260" y="0"/>
                  </a:lnTo>
                  <a:lnTo>
                    <a:pt x="21683" y="0"/>
                  </a:lnTo>
                  <a:close/>
                </a:path>
              </a:pathLst>
            </a:custGeom>
            <a:grpFill/>
            <a:ln w="12419" cap="flat">
              <a:noFill/>
              <a:prstDash val="solid"/>
              <a:miter/>
            </a:ln>
          </p:spPr>
          <p:txBody>
            <a:bodyPr rtlCol="0" anchor="ctr"/>
            <a:lstStyle/>
            <a:p>
              <a:endParaRPr lang="de-CH" noProof="0"/>
            </a:p>
          </p:txBody>
        </p:sp>
        <p:grpSp>
          <p:nvGrpSpPr>
            <p:cNvPr id="17" name="Grafik 6">
              <a:extLst>
                <a:ext uri="{FF2B5EF4-FFF2-40B4-BE49-F238E27FC236}">
                  <a16:creationId xmlns:a16="http://schemas.microsoft.com/office/drawing/2014/main" id="{7F7C476A-2849-4D68-9FA2-3A5CFC13C833}"/>
                </a:ext>
              </a:extLst>
            </p:cNvPr>
            <p:cNvGrpSpPr/>
            <p:nvPr/>
          </p:nvGrpSpPr>
          <p:grpSpPr>
            <a:xfrm>
              <a:off x="1518879" y="6507337"/>
              <a:ext cx="191395" cy="158803"/>
              <a:chOff x="1518879" y="6507337"/>
              <a:chExt cx="191395" cy="158803"/>
            </a:xfrm>
            <a:grpFill/>
          </p:grpSpPr>
          <p:sp>
            <p:nvSpPr>
              <p:cNvPr id="18" name="Freihandform: Form 17">
                <a:extLst>
                  <a:ext uri="{FF2B5EF4-FFF2-40B4-BE49-F238E27FC236}">
                    <a16:creationId xmlns:a16="http://schemas.microsoft.com/office/drawing/2014/main" id="{B2186F78-5D28-4695-8B1C-5A3F1A53AAB3}"/>
                  </a:ext>
                </a:extLst>
              </p:cNvPr>
              <p:cNvSpPr/>
              <p:nvPr/>
            </p:nvSpPr>
            <p:spPr>
              <a:xfrm>
                <a:off x="1614114" y="6507337"/>
                <a:ext cx="96160" cy="157638"/>
              </a:xfrm>
              <a:custGeom>
                <a:avLst/>
                <a:gdLst>
                  <a:gd name="connsiteX0" fmla="*/ 66046 w 96160"/>
                  <a:gd name="connsiteY0" fmla="*/ 47852 h 157638"/>
                  <a:gd name="connsiteX1" fmla="*/ 35142 w 96160"/>
                  <a:gd name="connsiteY1" fmla="*/ 60314 h 157638"/>
                  <a:gd name="connsiteX2" fmla="*/ 47603 w 96160"/>
                  <a:gd name="connsiteY2" fmla="*/ 0 h 157638"/>
                  <a:gd name="connsiteX3" fmla="*/ 31652 w 96160"/>
                  <a:gd name="connsiteY3" fmla="*/ 0 h 157638"/>
                  <a:gd name="connsiteX4" fmla="*/ 0 w 96160"/>
                  <a:gd name="connsiteY4" fmla="*/ 157389 h 157638"/>
                  <a:gd name="connsiteX5" fmla="*/ 15701 w 96160"/>
                  <a:gd name="connsiteY5" fmla="*/ 157389 h 157638"/>
                  <a:gd name="connsiteX6" fmla="*/ 28911 w 96160"/>
                  <a:gd name="connsiteY6" fmla="*/ 91218 h 157638"/>
                  <a:gd name="connsiteX7" fmla="*/ 60563 w 96160"/>
                  <a:gd name="connsiteY7" fmla="*/ 62058 h 157638"/>
                  <a:gd name="connsiteX8" fmla="*/ 79837 w 96160"/>
                  <a:gd name="connsiteY8" fmla="*/ 77742 h 157638"/>
                  <a:gd name="connsiteX9" fmla="*/ 79878 w 96160"/>
                  <a:gd name="connsiteY9" fmla="*/ 80875 h 157638"/>
                  <a:gd name="connsiteX10" fmla="*/ 78757 w 96160"/>
                  <a:gd name="connsiteY10" fmla="*/ 90969 h 157638"/>
                  <a:gd name="connsiteX11" fmla="*/ 65423 w 96160"/>
                  <a:gd name="connsiteY11" fmla="*/ 157638 h 157638"/>
                  <a:gd name="connsiteX12" fmla="*/ 81125 w 96160"/>
                  <a:gd name="connsiteY12" fmla="*/ 157638 h 157638"/>
                  <a:gd name="connsiteX13" fmla="*/ 94957 w 96160"/>
                  <a:gd name="connsiteY13" fmla="*/ 89474 h 157638"/>
                  <a:gd name="connsiteX14" fmla="*/ 96078 w 96160"/>
                  <a:gd name="connsiteY14" fmla="*/ 78757 h 157638"/>
                  <a:gd name="connsiteX15" fmla="*/ 69522 w 96160"/>
                  <a:gd name="connsiteY15" fmla="*/ 47902 h 157638"/>
                  <a:gd name="connsiteX16" fmla="*/ 66046 w 96160"/>
                  <a:gd name="connsiteY16" fmla="*/ 47852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6160" h="157638">
                    <a:moveTo>
                      <a:pt x="66046" y="47852"/>
                    </a:moveTo>
                    <a:cubicBezTo>
                      <a:pt x="54431" y="47363"/>
                      <a:pt x="43168" y="51904"/>
                      <a:pt x="35142" y="60314"/>
                    </a:cubicBezTo>
                    <a:lnTo>
                      <a:pt x="47603" y="0"/>
                    </a:lnTo>
                    <a:lnTo>
                      <a:pt x="31652" y="0"/>
                    </a:lnTo>
                    <a:lnTo>
                      <a:pt x="0" y="157389"/>
                    </a:lnTo>
                    <a:lnTo>
                      <a:pt x="15701" y="157389"/>
                    </a:lnTo>
                    <a:lnTo>
                      <a:pt x="28911" y="91218"/>
                    </a:lnTo>
                    <a:cubicBezTo>
                      <a:pt x="30603" y="74910"/>
                      <a:pt x="44170" y="62411"/>
                      <a:pt x="60563" y="62058"/>
                    </a:cubicBezTo>
                    <a:cubicBezTo>
                      <a:pt x="70216" y="61067"/>
                      <a:pt x="78845" y="68088"/>
                      <a:pt x="79837" y="77742"/>
                    </a:cubicBezTo>
                    <a:cubicBezTo>
                      <a:pt x="79945" y="78783"/>
                      <a:pt x="79958" y="79832"/>
                      <a:pt x="79878" y="80875"/>
                    </a:cubicBezTo>
                    <a:cubicBezTo>
                      <a:pt x="79822" y="84268"/>
                      <a:pt x="79446" y="87647"/>
                      <a:pt x="78757" y="90969"/>
                    </a:cubicBezTo>
                    <a:lnTo>
                      <a:pt x="65423" y="157638"/>
                    </a:lnTo>
                    <a:lnTo>
                      <a:pt x="81125" y="157638"/>
                    </a:lnTo>
                    <a:lnTo>
                      <a:pt x="94957" y="89474"/>
                    </a:lnTo>
                    <a:cubicBezTo>
                      <a:pt x="95657" y="85943"/>
                      <a:pt x="96034" y="82356"/>
                      <a:pt x="96078" y="78757"/>
                    </a:cubicBezTo>
                    <a:cubicBezTo>
                      <a:pt x="97265" y="62903"/>
                      <a:pt x="85375" y="49089"/>
                      <a:pt x="69522" y="47902"/>
                    </a:cubicBezTo>
                    <a:cubicBezTo>
                      <a:pt x="68365" y="47815"/>
                      <a:pt x="67205" y="47799"/>
                      <a:pt x="66046" y="47852"/>
                    </a:cubicBezTo>
                  </a:path>
                </a:pathLst>
              </a:custGeom>
              <a:grpFill/>
              <a:ln w="12419" cap="flat">
                <a:noFill/>
                <a:prstDash val="solid"/>
                <a:miter/>
              </a:ln>
            </p:spPr>
            <p:txBody>
              <a:bodyPr rtlCol="0" anchor="ctr"/>
              <a:lstStyle/>
              <a:p>
                <a:endParaRPr lang="de-CH" noProof="0"/>
              </a:p>
            </p:txBody>
          </p:sp>
          <p:sp>
            <p:nvSpPr>
              <p:cNvPr id="19" name="Freihandform: Form 18">
                <a:extLst>
                  <a:ext uri="{FF2B5EF4-FFF2-40B4-BE49-F238E27FC236}">
                    <a16:creationId xmlns:a16="http://schemas.microsoft.com/office/drawing/2014/main" id="{1FE5475E-83C3-4BE3-BBF1-FAE9A6986B3F}"/>
                  </a:ext>
                </a:extLst>
              </p:cNvPr>
              <p:cNvSpPr/>
              <p:nvPr/>
            </p:nvSpPr>
            <p:spPr>
              <a:xfrm>
                <a:off x="1518879" y="6555189"/>
                <a:ext cx="87882" cy="110951"/>
              </a:xfrm>
              <a:custGeom>
                <a:avLst/>
                <a:gdLst>
                  <a:gd name="connsiteX0" fmla="*/ 56853 w 87882"/>
                  <a:gd name="connsiteY0" fmla="*/ 0 h 110951"/>
                  <a:gd name="connsiteX1" fmla="*/ 1649 w 87882"/>
                  <a:gd name="connsiteY1" fmla="*/ 55329 h 110951"/>
                  <a:gd name="connsiteX2" fmla="*/ 153 w 87882"/>
                  <a:gd name="connsiteY2" fmla="*/ 71903 h 110951"/>
                  <a:gd name="connsiteX3" fmla="*/ 32484 w 87882"/>
                  <a:gd name="connsiteY3" fmla="*/ 110801 h 110951"/>
                  <a:gd name="connsiteX4" fmla="*/ 37538 w 87882"/>
                  <a:gd name="connsiteY4" fmla="*/ 110908 h 110951"/>
                  <a:gd name="connsiteX5" fmla="*/ 73552 w 87882"/>
                  <a:gd name="connsiteY5" fmla="*/ 95705 h 110951"/>
                  <a:gd name="connsiteX6" fmla="*/ 73552 w 87882"/>
                  <a:gd name="connsiteY6" fmla="*/ 95705 h 110951"/>
                  <a:gd name="connsiteX7" fmla="*/ 64455 w 87882"/>
                  <a:gd name="connsiteY7" fmla="*/ 84614 h 110951"/>
                  <a:gd name="connsiteX8" fmla="*/ 64455 w 87882"/>
                  <a:gd name="connsiteY8" fmla="*/ 84614 h 110951"/>
                  <a:gd name="connsiteX9" fmla="*/ 64455 w 87882"/>
                  <a:gd name="connsiteY9" fmla="*/ 84614 h 110951"/>
                  <a:gd name="connsiteX10" fmla="*/ 38535 w 87882"/>
                  <a:gd name="connsiteY10" fmla="*/ 97075 h 110951"/>
                  <a:gd name="connsiteX11" fmla="*/ 15233 w 87882"/>
                  <a:gd name="connsiteY11" fmla="*/ 75551 h 110951"/>
                  <a:gd name="connsiteX12" fmla="*/ 15356 w 87882"/>
                  <a:gd name="connsiteY12" fmla="*/ 72152 h 110951"/>
                  <a:gd name="connsiteX13" fmla="*/ 17101 w 87882"/>
                  <a:gd name="connsiteY13" fmla="*/ 55952 h 110951"/>
                  <a:gd name="connsiteX14" fmla="*/ 31058 w 87882"/>
                  <a:gd name="connsiteY14" fmla="*/ 25048 h 110951"/>
                  <a:gd name="connsiteX15" fmla="*/ 55233 w 87882"/>
                  <a:gd name="connsiteY15" fmla="*/ 14206 h 110951"/>
                  <a:gd name="connsiteX16" fmla="*/ 76293 w 87882"/>
                  <a:gd name="connsiteY16" fmla="*/ 26668 h 110951"/>
                  <a:gd name="connsiteX17" fmla="*/ 76293 w 87882"/>
                  <a:gd name="connsiteY17" fmla="*/ 26668 h 110951"/>
                  <a:gd name="connsiteX18" fmla="*/ 87883 w 87882"/>
                  <a:gd name="connsiteY18" fmla="*/ 16823 h 110951"/>
                  <a:gd name="connsiteX19" fmla="*/ 87883 w 87882"/>
                  <a:gd name="connsiteY19" fmla="*/ 16823 h 110951"/>
                  <a:gd name="connsiteX20" fmla="*/ 56729 w 87882"/>
                  <a:gd name="connsiteY20" fmla="*/ 748 h 11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7882" h="110951">
                    <a:moveTo>
                      <a:pt x="56853" y="0"/>
                    </a:moveTo>
                    <a:cubicBezTo>
                      <a:pt x="28192" y="0"/>
                      <a:pt x="8129" y="20188"/>
                      <a:pt x="1649" y="55329"/>
                    </a:cubicBezTo>
                    <a:cubicBezTo>
                      <a:pt x="671" y="60800"/>
                      <a:pt x="170" y="66345"/>
                      <a:pt x="153" y="71903"/>
                    </a:cubicBezTo>
                    <a:cubicBezTo>
                      <a:pt x="-1660" y="91572"/>
                      <a:pt x="12814" y="108987"/>
                      <a:pt x="32484" y="110801"/>
                    </a:cubicBezTo>
                    <a:cubicBezTo>
                      <a:pt x="34163" y="110955"/>
                      <a:pt x="35853" y="110991"/>
                      <a:pt x="37538" y="110908"/>
                    </a:cubicBezTo>
                    <a:cubicBezTo>
                      <a:pt x="51112" y="110955"/>
                      <a:pt x="64118" y="105465"/>
                      <a:pt x="73552" y="95705"/>
                    </a:cubicBezTo>
                    <a:lnTo>
                      <a:pt x="73552" y="95705"/>
                    </a:lnTo>
                    <a:lnTo>
                      <a:pt x="64455" y="84614"/>
                    </a:lnTo>
                    <a:lnTo>
                      <a:pt x="64455" y="84614"/>
                    </a:lnTo>
                    <a:lnTo>
                      <a:pt x="64455" y="84614"/>
                    </a:lnTo>
                    <a:cubicBezTo>
                      <a:pt x="58138" y="92466"/>
                      <a:pt x="48613" y="97045"/>
                      <a:pt x="38535" y="97075"/>
                    </a:cubicBezTo>
                    <a:cubicBezTo>
                      <a:pt x="26157" y="97566"/>
                      <a:pt x="15724" y="87929"/>
                      <a:pt x="15233" y="75551"/>
                    </a:cubicBezTo>
                    <a:cubicBezTo>
                      <a:pt x="15188" y="74416"/>
                      <a:pt x="15229" y="73280"/>
                      <a:pt x="15356" y="72152"/>
                    </a:cubicBezTo>
                    <a:cubicBezTo>
                      <a:pt x="15424" y="66709"/>
                      <a:pt x="16008" y="61285"/>
                      <a:pt x="17101" y="55952"/>
                    </a:cubicBezTo>
                    <a:cubicBezTo>
                      <a:pt x="18838" y="44568"/>
                      <a:pt x="23666" y="33878"/>
                      <a:pt x="31058" y="25048"/>
                    </a:cubicBezTo>
                    <a:cubicBezTo>
                      <a:pt x="37213" y="18167"/>
                      <a:pt x="46002" y="14225"/>
                      <a:pt x="55233" y="14206"/>
                    </a:cubicBezTo>
                    <a:cubicBezTo>
                      <a:pt x="64085" y="13892"/>
                      <a:pt x="72308" y="18758"/>
                      <a:pt x="76293" y="26668"/>
                    </a:cubicBezTo>
                    <a:lnTo>
                      <a:pt x="76293" y="26668"/>
                    </a:lnTo>
                    <a:lnTo>
                      <a:pt x="87883" y="16823"/>
                    </a:lnTo>
                    <a:lnTo>
                      <a:pt x="87883" y="16823"/>
                    </a:lnTo>
                    <a:cubicBezTo>
                      <a:pt x="81104" y="6298"/>
                      <a:pt x="69235" y="174"/>
                      <a:pt x="56729" y="748"/>
                    </a:cubicBezTo>
                  </a:path>
                </a:pathLst>
              </a:custGeom>
              <a:grpFill/>
              <a:ln w="12419" cap="flat">
                <a:noFill/>
                <a:prstDash val="solid"/>
                <a:miter/>
              </a:ln>
            </p:spPr>
            <p:txBody>
              <a:bodyPr rtlCol="0" anchor="ctr"/>
              <a:lstStyle/>
              <a:p>
                <a:endParaRPr lang="de-CH" noProof="0"/>
              </a:p>
            </p:txBody>
          </p:sp>
        </p:grpSp>
        <p:sp>
          <p:nvSpPr>
            <p:cNvPr id="20" name="Freihandform: Form 19">
              <a:extLst>
                <a:ext uri="{FF2B5EF4-FFF2-40B4-BE49-F238E27FC236}">
                  <a16:creationId xmlns:a16="http://schemas.microsoft.com/office/drawing/2014/main" id="{41B77B6E-E7CB-412B-95AC-A9322C6799BB}"/>
                </a:ext>
              </a:extLst>
            </p:cNvPr>
            <p:cNvSpPr/>
            <p:nvPr/>
          </p:nvSpPr>
          <p:spPr>
            <a:xfrm>
              <a:off x="1493985"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1" name="Freihandform: Form 20">
              <a:extLst>
                <a:ext uri="{FF2B5EF4-FFF2-40B4-BE49-F238E27FC236}">
                  <a16:creationId xmlns:a16="http://schemas.microsoft.com/office/drawing/2014/main" id="{832E5C1A-13CE-49A6-B590-B6EAA5F9E1AD}"/>
                </a:ext>
              </a:extLst>
            </p:cNvPr>
            <p:cNvSpPr/>
            <p:nvPr/>
          </p:nvSpPr>
          <p:spPr>
            <a:xfrm>
              <a:off x="1340708"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2" name="Freihandform: Form 21">
              <a:extLst>
                <a:ext uri="{FF2B5EF4-FFF2-40B4-BE49-F238E27FC236}">
                  <a16:creationId xmlns:a16="http://schemas.microsoft.com/office/drawing/2014/main" id="{63AE00B0-780F-4053-8FE9-B7D321217AFF}"/>
                </a:ext>
              </a:extLst>
            </p:cNvPr>
            <p:cNvSpPr/>
            <p:nvPr/>
          </p:nvSpPr>
          <p:spPr>
            <a:xfrm>
              <a:off x="1298712" y="6507088"/>
              <a:ext cx="19689" cy="19689"/>
            </a:xfrm>
            <a:custGeom>
              <a:avLst/>
              <a:gdLst>
                <a:gd name="connsiteX0" fmla="*/ 3988 w 19689"/>
                <a:gd name="connsiteY0" fmla="*/ 0 h 19689"/>
                <a:gd name="connsiteX1" fmla="*/ 0 w 19689"/>
                <a:gd name="connsiteY1" fmla="*/ 19689 h 19689"/>
                <a:gd name="connsiteX2" fmla="*/ 15702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702"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3" name="Freihandform: Form 22">
              <a:extLst>
                <a:ext uri="{FF2B5EF4-FFF2-40B4-BE49-F238E27FC236}">
                  <a16:creationId xmlns:a16="http://schemas.microsoft.com/office/drawing/2014/main" id="{2406CEAF-7399-4CCB-A322-03F0BA2532F5}"/>
                </a:ext>
              </a:extLst>
            </p:cNvPr>
            <p:cNvSpPr/>
            <p:nvPr/>
          </p:nvSpPr>
          <p:spPr>
            <a:xfrm>
              <a:off x="731837" y="6507088"/>
              <a:ext cx="417960" cy="157638"/>
            </a:xfrm>
            <a:custGeom>
              <a:avLst/>
              <a:gdLst>
                <a:gd name="connsiteX0" fmla="*/ 368612 w 417960"/>
                <a:gd name="connsiteY0" fmla="*/ 0 h 157638"/>
                <a:gd name="connsiteX1" fmla="*/ 356151 w 417960"/>
                <a:gd name="connsiteY1" fmla="*/ 61062 h 157638"/>
                <a:gd name="connsiteX2" fmla="*/ 320760 w 417960"/>
                <a:gd name="connsiteY2" fmla="*/ 61062 h 157638"/>
                <a:gd name="connsiteX3" fmla="*/ 333222 w 417960"/>
                <a:gd name="connsiteY3" fmla="*/ 0 h 157638"/>
                <a:gd name="connsiteX4" fmla="*/ 31652 w 417960"/>
                <a:gd name="connsiteY4" fmla="*/ 0 h 157638"/>
                <a:gd name="connsiteX5" fmla="*/ 0 w 417960"/>
                <a:gd name="connsiteY5" fmla="*/ 157638 h 157638"/>
                <a:gd name="connsiteX6" fmla="*/ 120254 w 417960"/>
                <a:gd name="connsiteY6" fmla="*/ 157638 h 157638"/>
                <a:gd name="connsiteX7" fmla="*/ 128105 w 417960"/>
                <a:gd name="connsiteY7" fmla="*/ 118260 h 157638"/>
                <a:gd name="connsiteX8" fmla="*/ 57074 w 417960"/>
                <a:gd name="connsiteY8" fmla="*/ 118260 h 157638"/>
                <a:gd name="connsiteX9" fmla="*/ 61435 w 417960"/>
                <a:gd name="connsiteY9" fmla="*/ 96577 h 157638"/>
                <a:gd name="connsiteX10" fmla="*/ 132342 w 417960"/>
                <a:gd name="connsiteY10" fmla="*/ 96577 h 157638"/>
                <a:gd name="connsiteX11" fmla="*/ 139569 w 417960"/>
                <a:gd name="connsiteY11" fmla="*/ 61062 h 157638"/>
                <a:gd name="connsiteX12" fmla="*/ 68538 w 417960"/>
                <a:gd name="connsiteY12" fmla="*/ 61062 h 157638"/>
                <a:gd name="connsiteX13" fmla="*/ 72900 w 417960"/>
                <a:gd name="connsiteY13" fmla="*/ 39378 h 157638"/>
                <a:gd name="connsiteX14" fmla="*/ 185303 w 417960"/>
                <a:gd name="connsiteY14" fmla="*/ 39378 h 157638"/>
                <a:gd name="connsiteX15" fmla="*/ 161626 w 417960"/>
                <a:gd name="connsiteY15" fmla="*/ 157638 h 157638"/>
                <a:gd name="connsiteX16" fmla="*/ 210849 w 417960"/>
                <a:gd name="connsiteY16" fmla="*/ 157638 h 157638"/>
                <a:gd name="connsiteX17" fmla="*/ 234651 w 417960"/>
                <a:gd name="connsiteY17" fmla="*/ 39378 h 157638"/>
                <a:gd name="connsiteX18" fmla="*/ 276023 w 417960"/>
                <a:gd name="connsiteY18" fmla="*/ 39378 h 157638"/>
                <a:gd name="connsiteX19" fmla="*/ 252222 w 417960"/>
                <a:gd name="connsiteY19" fmla="*/ 157638 h 157638"/>
                <a:gd name="connsiteX20" fmla="*/ 301569 w 417960"/>
                <a:gd name="connsiteY20" fmla="*/ 157638 h 157638"/>
                <a:gd name="connsiteX21" fmla="*/ 313657 w 417960"/>
                <a:gd name="connsiteY21" fmla="*/ 96577 h 157638"/>
                <a:gd name="connsiteX22" fmla="*/ 349172 w 417960"/>
                <a:gd name="connsiteY22" fmla="*/ 96577 h 157638"/>
                <a:gd name="connsiteX23" fmla="*/ 336960 w 417960"/>
                <a:gd name="connsiteY23" fmla="*/ 157638 h 157638"/>
                <a:gd name="connsiteX24" fmla="*/ 386308 w 417960"/>
                <a:gd name="connsiteY24" fmla="*/ 157638 h 157638"/>
                <a:gd name="connsiteX25" fmla="*/ 417960 w 417960"/>
                <a:gd name="connsiteY25" fmla="*/ 0 h 157638"/>
                <a:gd name="connsiteX26" fmla="*/ 368612 w 417960"/>
                <a:gd name="connsiteY26" fmla="*/ 0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7960" h="157638">
                  <a:moveTo>
                    <a:pt x="368612" y="0"/>
                  </a:moveTo>
                  <a:lnTo>
                    <a:pt x="356151" y="61062"/>
                  </a:lnTo>
                  <a:lnTo>
                    <a:pt x="320760" y="61062"/>
                  </a:lnTo>
                  <a:lnTo>
                    <a:pt x="333222" y="0"/>
                  </a:lnTo>
                  <a:lnTo>
                    <a:pt x="31652" y="0"/>
                  </a:lnTo>
                  <a:lnTo>
                    <a:pt x="0" y="157638"/>
                  </a:lnTo>
                  <a:lnTo>
                    <a:pt x="120254" y="157638"/>
                  </a:lnTo>
                  <a:lnTo>
                    <a:pt x="128105" y="118260"/>
                  </a:lnTo>
                  <a:lnTo>
                    <a:pt x="57074" y="118260"/>
                  </a:lnTo>
                  <a:lnTo>
                    <a:pt x="61435" y="96577"/>
                  </a:lnTo>
                  <a:lnTo>
                    <a:pt x="132342" y="96577"/>
                  </a:lnTo>
                  <a:lnTo>
                    <a:pt x="139569" y="61062"/>
                  </a:lnTo>
                  <a:lnTo>
                    <a:pt x="68538" y="61062"/>
                  </a:lnTo>
                  <a:lnTo>
                    <a:pt x="72900" y="39378"/>
                  </a:lnTo>
                  <a:lnTo>
                    <a:pt x="185303" y="39378"/>
                  </a:lnTo>
                  <a:lnTo>
                    <a:pt x="161626" y="157638"/>
                  </a:lnTo>
                  <a:lnTo>
                    <a:pt x="210849" y="157638"/>
                  </a:lnTo>
                  <a:lnTo>
                    <a:pt x="234651" y="39378"/>
                  </a:lnTo>
                  <a:lnTo>
                    <a:pt x="276023" y="39378"/>
                  </a:lnTo>
                  <a:lnTo>
                    <a:pt x="252222" y="157638"/>
                  </a:lnTo>
                  <a:lnTo>
                    <a:pt x="301569" y="157638"/>
                  </a:lnTo>
                  <a:lnTo>
                    <a:pt x="313657" y="96577"/>
                  </a:lnTo>
                  <a:lnTo>
                    <a:pt x="349172" y="96577"/>
                  </a:lnTo>
                  <a:lnTo>
                    <a:pt x="336960" y="157638"/>
                  </a:lnTo>
                  <a:lnTo>
                    <a:pt x="386308" y="157638"/>
                  </a:lnTo>
                  <a:lnTo>
                    <a:pt x="417960" y="0"/>
                  </a:lnTo>
                  <a:lnTo>
                    <a:pt x="368612" y="0"/>
                  </a:lnTo>
                  <a:close/>
                </a:path>
              </a:pathLst>
            </a:custGeom>
            <a:grpFill/>
            <a:ln w="12419" cap="flat">
              <a:noFill/>
              <a:prstDash val="solid"/>
              <a:miter/>
            </a:ln>
          </p:spPr>
          <p:txBody>
            <a:bodyPr rtlCol="0" anchor="ctr"/>
            <a:lstStyle/>
            <a:p>
              <a:endParaRPr lang="de-CH" noProof="0"/>
            </a:p>
          </p:txBody>
        </p:sp>
      </p:grpSp>
    </p:spTree>
    <p:extLst>
      <p:ext uri="{BB962C8B-B14F-4D97-AF65-F5344CB8AC3E}">
        <p14:creationId xmlns:p14="http://schemas.microsoft.com/office/powerpoint/2010/main" val="371683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lvl1pPr>
              <a:defRPr/>
            </a:lvl1pPr>
          </a:lstStyle>
          <a:p>
            <a:r>
              <a:rPr lang="de-DE" noProof="0"/>
              <a:t>Mastertitelformat bearbeiten</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C47C2547-0B26-4181-9958-0F74634B97A1}" type="datetime1">
              <a:rPr lang="de-CH" noProof="0" smtClean="0"/>
              <a:t>24.05.23</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‹Nr.›</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1412874"/>
            <a:ext cx="10728000" cy="4860000"/>
          </a:xfrm>
        </p:spPr>
        <p:txBody>
          <a:bodyPr tIns="162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94385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 full page">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4A533879-9C0F-4F94-919F-30B833E8871A}" type="datetime1">
              <a:rPr lang="de-CH" noProof="0" smtClean="0"/>
              <a:t>24.05.23</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‹Nr.›</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260350"/>
            <a:ext cx="10728000" cy="6012524"/>
          </a:xfrm>
        </p:spPr>
        <p:txBody>
          <a:bodyPr tIns="216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284204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zwei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6204163" y="1412875"/>
            <a:ext cx="5256000" cy="4860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68EF82BE-DF56-4719-B180-C3B0D509F71F}" type="datetime1">
              <a:rPr lang="de-CH" noProof="0" smtClean="0"/>
              <a:t>24.05.23</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‹Nr.›</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040000" cy="4860000"/>
          </a:xfrm>
        </p:spPr>
        <p:txBody>
          <a:bodyPr tIns="162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3996394784"/>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2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5121800"/>
            <a:ext cx="5255999" cy="1152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E1B9425-7348-43E2-B0E9-6A2A48F5FA8A}" type="datetime1">
              <a:rPr lang="de-CH" noProof="0" smtClean="0"/>
              <a:t>24.05.23</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‹Nr.›</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256000" cy="3420000"/>
          </a:xfrm>
        </p:spPr>
        <p:txBody>
          <a:bodyPr tIns="900000"/>
          <a:lstStyle>
            <a:lvl1pPr marL="0" indent="0" algn="ctr">
              <a:buNone/>
              <a:defRPr/>
            </a:lvl1pPr>
          </a:lstStyle>
          <a:p>
            <a:r>
              <a:rPr lang="de-DE" noProof="0"/>
              <a:t>Bild durch Klicken auf Symbol hinzufügen</a:t>
            </a:r>
            <a:endParaRPr lang="de-CH" noProof="0"/>
          </a:p>
        </p:txBody>
      </p:sp>
      <p:sp>
        <p:nvSpPr>
          <p:cNvPr id="9" name="Bildplatzhalter 10">
            <a:extLst>
              <a:ext uri="{FF2B5EF4-FFF2-40B4-BE49-F238E27FC236}">
                <a16:creationId xmlns:a16="http://schemas.microsoft.com/office/drawing/2014/main" id="{1AAB6914-2518-430D-BF4C-14EA51B61410}"/>
              </a:ext>
            </a:extLst>
          </p:cNvPr>
          <p:cNvSpPr>
            <a:spLocks noGrp="1"/>
          </p:cNvSpPr>
          <p:nvPr>
            <p:ph type="pic" sz="quarter" idx="14"/>
          </p:nvPr>
        </p:nvSpPr>
        <p:spPr>
          <a:xfrm>
            <a:off x="6204162" y="1412875"/>
            <a:ext cx="5256000" cy="3420000"/>
          </a:xfrm>
        </p:spPr>
        <p:txBody>
          <a:bodyPr tIns="900000"/>
          <a:lstStyle>
            <a:lvl1pPr marL="0" indent="0" algn="ctr">
              <a:buNone/>
              <a:defRPr/>
            </a:lvl1pPr>
          </a:lstStyle>
          <a:p>
            <a:r>
              <a:rPr lang="de-DE" noProof="0"/>
              <a:t>Bild durch Klicken auf Symbol hinzufügen</a:t>
            </a:r>
            <a:endParaRPr lang="de-CH" noProof="0"/>
          </a:p>
        </p:txBody>
      </p:sp>
      <p:sp>
        <p:nvSpPr>
          <p:cNvPr id="12" name="Inhaltsplatzhalter 2">
            <a:extLst>
              <a:ext uri="{FF2B5EF4-FFF2-40B4-BE49-F238E27FC236}">
                <a16:creationId xmlns:a16="http://schemas.microsoft.com/office/drawing/2014/main" id="{5092EEFB-079B-4C38-A665-E52B9837601B}"/>
              </a:ext>
            </a:extLst>
          </p:cNvPr>
          <p:cNvSpPr>
            <a:spLocks noGrp="1"/>
          </p:cNvSpPr>
          <p:nvPr>
            <p:ph idx="15"/>
          </p:nvPr>
        </p:nvSpPr>
        <p:spPr>
          <a:xfrm>
            <a:off x="6204162" y="5121800"/>
            <a:ext cx="5256001" cy="1152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Tree>
    <p:extLst>
      <p:ext uri="{BB962C8B-B14F-4D97-AF65-F5344CB8AC3E}">
        <p14:creationId xmlns:p14="http://schemas.microsoft.com/office/powerpoint/2010/main" val="1085750778"/>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4166439"/>
            <a:ext cx="10728327" cy="2124401"/>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0F7782B2-018B-4FD3-AD95-2F64EDE0E9D6}" type="datetime1">
              <a:rPr lang="de-CH" noProof="0" smtClean="0"/>
              <a:t>24.05.23</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‹Nr.›</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3420000" cy="2484000"/>
          </a:xfrm>
        </p:spPr>
        <p:txBody>
          <a:bodyPr tIns="360000"/>
          <a:lstStyle>
            <a:lvl1pPr marL="0" indent="0" algn="ctr">
              <a:buNone/>
              <a:defRPr/>
            </a:lvl1pPr>
          </a:lstStyle>
          <a:p>
            <a:r>
              <a:rPr lang="de-DE" noProof="0"/>
              <a:t>Bild durch Klicken auf Symbol hinzufügen</a:t>
            </a:r>
            <a:endParaRPr lang="de-CH" noProof="0"/>
          </a:p>
        </p:txBody>
      </p:sp>
      <p:sp>
        <p:nvSpPr>
          <p:cNvPr id="13" name="Bildplatzhalter 10">
            <a:extLst>
              <a:ext uri="{FF2B5EF4-FFF2-40B4-BE49-F238E27FC236}">
                <a16:creationId xmlns:a16="http://schemas.microsoft.com/office/drawing/2014/main" id="{36793346-BF6B-42A8-ADE0-3AA3DC3B239A}"/>
              </a:ext>
            </a:extLst>
          </p:cNvPr>
          <p:cNvSpPr>
            <a:spLocks noGrp="1"/>
          </p:cNvSpPr>
          <p:nvPr>
            <p:ph type="pic" sz="quarter" idx="16"/>
          </p:nvPr>
        </p:nvSpPr>
        <p:spPr>
          <a:xfrm>
            <a:off x="8040162" y="1414800"/>
            <a:ext cx="3420000" cy="2484000"/>
          </a:xfrm>
        </p:spPr>
        <p:txBody>
          <a:bodyPr tIns="360000"/>
          <a:lstStyle>
            <a:lvl1pPr marL="0" indent="0" algn="ctr">
              <a:buNone/>
              <a:defRPr/>
            </a:lvl1pPr>
          </a:lstStyle>
          <a:p>
            <a:r>
              <a:rPr lang="de-DE" noProof="0"/>
              <a:t>Bild durch Klicken auf Symbol hinzufügen</a:t>
            </a:r>
            <a:endParaRPr lang="de-CH" noProof="0"/>
          </a:p>
        </p:txBody>
      </p:sp>
      <p:sp>
        <p:nvSpPr>
          <p:cNvPr id="14" name="Bildplatzhalter 10">
            <a:extLst>
              <a:ext uri="{FF2B5EF4-FFF2-40B4-BE49-F238E27FC236}">
                <a16:creationId xmlns:a16="http://schemas.microsoft.com/office/drawing/2014/main" id="{FE637F68-618E-43EB-B240-4BFA26852FC5}"/>
              </a:ext>
            </a:extLst>
          </p:cNvPr>
          <p:cNvSpPr>
            <a:spLocks noGrp="1"/>
          </p:cNvSpPr>
          <p:nvPr>
            <p:ph type="pic" sz="quarter" idx="17"/>
          </p:nvPr>
        </p:nvSpPr>
        <p:spPr>
          <a:xfrm>
            <a:off x="4385999" y="1414800"/>
            <a:ext cx="3420000" cy="2484000"/>
          </a:xfrm>
        </p:spPr>
        <p:txBody>
          <a:bodyPr tIns="36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2252988954"/>
      </p:ext>
    </p:extLst>
  </p:cSld>
  <p:clrMapOvr>
    <a:masterClrMapping/>
  </p:clrMapOvr>
  <p:extLst>
    <p:ext uri="{DCECCB84-F9BA-43D5-87BE-67443E8EF086}">
      <p15:sldGuideLst xmlns:p15="http://schemas.microsoft.com/office/powerpoint/2012/main">
        <p15:guide id="1" orient="horz" pos="39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
          </a:xfrm>
        </p:spPr>
        <p:txBody>
          <a:bodyPr/>
          <a:lstStyle>
            <a:lvl1pPr marL="0" indent="0">
              <a:buNone/>
              <a:defRPr b="1"/>
            </a:lvl1pPr>
            <a:lvl2pPr marL="266700" indent="0">
              <a:buNone/>
              <a:defRPr b="1"/>
            </a:lvl2pPr>
            <a:lvl3pPr marL="538163" indent="0">
              <a:buNone/>
              <a:defRPr b="1"/>
            </a:lvl3pPr>
            <a:lvl4pPr marL="804862" indent="0">
              <a:buNone/>
              <a:defRPr b="1"/>
            </a:lvl4pPr>
            <a:lvl5pPr marL="1076325" indent="0">
              <a:buNone/>
              <a:defRPr b="1"/>
            </a:lvl5pPr>
          </a:lstStyle>
          <a:p>
            <a:pPr lvl="0"/>
            <a:r>
              <a:rPr lang="de-DE" noProof="0"/>
              <a:t>Mastertextformat bearbeiten</a:t>
            </a:r>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D0A0FED0-443D-411A-B8E4-0668A8890EE3}" type="datetime1">
              <a:rPr lang="de-CH" noProof="0" smtClean="0"/>
              <a:t>24.05.23</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‹Nr.›</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9" name="Tabellenplatzhalter 8">
            <a:extLst>
              <a:ext uri="{FF2B5EF4-FFF2-40B4-BE49-F238E27FC236}">
                <a16:creationId xmlns:a16="http://schemas.microsoft.com/office/drawing/2014/main" id="{A1D947E6-CC00-458E-BDE1-B0877E30333C}"/>
              </a:ext>
            </a:extLst>
          </p:cNvPr>
          <p:cNvSpPr>
            <a:spLocks noGrp="1"/>
          </p:cNvSpPr>
          <p:nvPr>
            <p:ph type="tbl" sz="quarter" idx="13"/>
          </p:nvPr>
        </p:nvSpPr>
        <p:spPr>
          <a:xfrm>
            <a:off x="731838" y="2061398"/>
            <a:ext cx="10728325" cy="4212401"/>
          </a:xfrm>
        </p:spPr>
        <p:txBody>
          <a:bodyPr tIns="1260000"/>
          <a:lstStyle>
            <a:lvl1pPr marL="0" indent="0" algn="ctr">
              <a:spcBef>
                <a:spcPts val="0"/>
              </a:spcBef>
              <a:buNone/>
              <a:defRPr sz="1400"/>
            </a:lvl1pPr>
          </a:lstStyle>
          <a:p>
            <a:r>
              <a:rPr lang="de-DE" noProof="0"/>
              <a:t>Tabelle durch Klicken auf Symbol hinzufügen</a:t>
            </a:r>
            <a:endParaRPr lang="de-CH" noProof="0"/>
          </a:p>
        </p:txBody>
      </p:sp>
    </p:spTree>
    <p:extLst>
      <p:ext uri="{BB962C8B-B14F-4D97-AF65-F5344CB8AC3E}">
        <p14:creationId xmlns:p14="http://schemas.microsoft.com/office/powerpoint/2010/main" val="2928661315"/>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hlussfolie">
    <p:bg>
      <p:bgPr>
        <a:solidFill>
          <a:schemeClr val="bg1"/>
        </a:solidFill>
        <a:effectLst/>
      </p:bgPr>
    </p:bg>
    <p:spTree>
      <p:nvGrpSpPr>
        <p:cNvPr id="1" name=""/>
        <p:cNvGrpSpPr/>
        <p:nvPr/>
      </p:nvGrpSpPr>
      <p:grpSpPr>
        <a:xfrm>
          <a:off x="0" y="0"/>
          <a:ext cx="0" cy="0"/>
          <a:chOff x="0" y="0"/>
          <a:chExt cx="0" cy="0"/>
        </a:xfrm>
      </p:grpSpPr>
      <p:sp>
        <p:nvSpPr>
          <p:cNvPr id="20" name="Inhaltsplatzhalter 2">
            <a:extLst>
              <a:ext uri="{FF2B5EF4-FFF2-40B4-BE49-F238E27FC236}">
                <a16:creationId xmlns:a16="http://schemas.microsoft.com/office/drawing/2014/main" id="{394B20FF-3667-40DF-92A1-C6CF3BBCA26D}"/>
              </a:ext>
            </a:extLst>
          </p:cNvPr>
          <p:cNvSpPr>
            <a:spLocks noGrp="1"/>
          </p:cNvSpPr>
          <p:nvPr>
            <p:ph idx="1"/>
          </p:nvPr>
        </p:nvSpPr>
        <p:spPr>
          <a:xfrm>
            <a:off x="731837" y="2135492"/>
            <a:ext cx="10728325" cy="3960000"/>
          </a:xfrm>
        </p:spPr>
        <p:txBody>
          <a:bodyPr/>
          <a:lstStyle>
            <a:lvl1pPr marL="0" indent="0">
              <a:spcBef>
                <a:spcPts val="0"/>
              </a:spcBef>
              <a:buNone/>
              <a:defRPr>
                <a:solidFill>
                  <a:schemeClr val="tx1"/>
                </a:solidFill>
              </a:defRPr>
            </a:lvl1pPr>
            <a:lvl2pPr marL="266700" indent="0">
              <a:buNone/>
              <a:defRPr>
                <a:solidFill>
                  <a:schemeClr val="bg1"/>
                </a:solidFill>
              </a:defRPr>
            </a:lvl2pPr>
            <a:lvl3pPr marL="540000" indent="0">
              <a:buNone/>
              <a:defRPr>
                <a:solidFill>
                  <a:schemeClr val="bg1"/>
                </a:solidFill>
              </a:defRPr>
            </a:lvl3pPr>
            <a:lvl4pPr marL="808537" indent="0">
              <a:buNone/>
              <a:defRPr>
                <a:solidFill>
                  <a:schemeClr val="bg1"/>
                </a:solidFill>
              </a:defRPr>
            </a:lvl4pPr>
            <a:lvl5pPr marL="1080000" indent="0">
              <a:buNone/>
              <a:defRPr>
                <a:solidFill>
                  <a:schemeClr val="bg1"/>
                </a:solidFill>
              </a:defRPr>
            </a:lvl5pPr>
          </a:lstStyle>
          <a:p>
            <a:pPr lvl="0"/>
            <a:r>
              <a:rPr lang="de-DE" noProof="0"/>
              <a:t>Mastertextformat bearbeiten</a:t>
            </a:r>
          </a:p>
        </p:txBody>
      </p:sp>
      <p:sp>
        <p:nvSpPr>
          <p:cNvPr id="21" name="Bildplatzhalter 8">
            <a:extLst>
              <a:ext uri="{FF2B5EF4-FFF2-40B4-BE49-F238E27FC236}">
                <a16:creationId xmlns:a16="http://schemas.microsoft.com/office/drawing/2014/main" id="{794484F1-3B7F-46CE-AD0B-2310A557A990}"/>
              </a:ext>
            </a:extLst>
          </p:cNvPr>
          <p:cNvSpPr>
            <a:spLocks noGrp="1"/>
          </p:cNvSpPr>
          <p:nvPr>
            <p:ph type="pic" sz="quarter" idx="12"/>
          </p:nvPr>
        </p:nvSpPr>
        <p:spPr>
          <a:xfrm>
            <a:off x="10200163" y="6489088"/>
            <a:ext cx="1260000" cy="180000"/>
          </a:xfrm>
        </p:spPr>
        <p:txBody>
          <a:bodyPr/>
          <a:lstStyle>
            <a:lvl1pPr marL="0" indent="0" algn="l">
              <a:buNone/>
              <a:defRPr sz="700">
                <a:solidFill>
                  <a:schemeClr val="tx1"/>
                </a:solidFill>
              </a:defRPr>
            </a:lvl1pPr>
          </a:lstStyle>
          <a:p>
            <a:r>
              <a:rPr lang="de-DE" noProof="0"/>
              <a:t>Bild durch Klicken auf Symbol hinzufügen</a:t>
            </a:r>
            <a:endParaRPr lang="de-CH" noProof="0"/>
          </a:p>
        </p:txBody>
      </p:sp>
      <p:pic>
        <p:nvPicPr>
          <p:cNvPr id="22" name="Grafik 21">
            <a:extLst>
              <a:ext uri="{FF2B5EF4-FFF2-40B4-BE49-F238E27FC236}">
                <a16:creationId xmlns:a16="http://schemas.microsoft.com/office/drawing/2014/main" id="{F900572E-A73E-42BE-96FA-38ADC4E79FD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Tree>
    <p:extLst>
      <p:ext uri="{BB962C8B-B14F-4D97-AF65-F5344CB8AC3E}">
        <p14:creationId xmlns:p14="http://schemas.microsoft.com/office/powerpoint/2010/main" val="1752670339"/>
      </p:ext>
    </p:extLst>
  </p:cSld>
  <p:clrMapOvr>
    <a:masterClrMapping/>
  </p:clrMapOvr>
  <p:extLst>
    <p:ext uri="{DCECCB84-F9BA-43D5-87BE-67443E8EF086}">
      <p15:sldGuideLst xmlns:p15="http://schemas.microsoft.com/office/powerpoint/2012/main">
        <p15:guide id="1" pos="6698">
          <p15:clr>
            <a:srgbClr val="FBAE40"/>
          </p15:clr>
        </p15:guide>
        <p15:guide id="3" orient="horz" pos="640">
          <p15:clr>
            <a:srgbClr val="FBAE40"/>
          </p15:clr>
        </p15:guide>
        <p15:guide id="4" orient="horz" pos="39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731837" y="260351"/>
            <a:ext cx="10728325" cy="900000"/>
          </a:xfrm>
          <a:prstGeom prst="rect">
            <a:avLst/>
          </a:prstGeom>
        </p:spPr>
        <p:txBody>
          <a:bodyPr vert="horz" lIns="0" tIns="0" rIns="0" bIns="0" rtlCol="0" anchor="t" anchorCtr="0">
            <a:noAutofit/>
          </a:bodyPr>
          <a:lstStyle/>
          <a:p>
            <a:r>
              <a:rPr lang="de-CH"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731837" y="1412875"/>
            <a:ext cx="10728325" cy="4680000"/>
          </a:xfrm>
          <a:prstGeom prst="rect">
            <a:avLst/>
          </a:prstGeom>
        </p:spPr>
        <p:txBody>
          <a:bodyPr vert="horz" lIns="0" tIns="0" rIns="0" bIns="0" rtlCol="0">
            <a:noAutofit/>
          </a:bodyPr>
          <a:lstStyle/>
          <a:p>
            <a:pPr lvl="0"/>
            <a:r>
              <a:rPr lang="de-CH" noProof="0"/>
              <a:t>Mastertextformat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4" name="Datumsplatzhalter 3">
            <a:extLst>
              <a:ext uri="{FF2B5EF4-FFF2-40B4-BE49-F238E27FC236}">
                <a16:creationId xmlns:a16="http://schemas.microsoft.com/office/drawing/2014/main" id="{37C96E51-36C9-4BEE-A761-33378A0DF03D}"/>
              </a:ext>
            </a:extLst>
          </p:cNvPr>
          <p:cNvSpPr>
            <a:spLocks noGrp="1"/>
          </p:cNvSpPr>
          <p:nvPr>
            <p:ph type="dt" sz="half" idx="2"/>
          </p:nvPr>
        </p:nvSpPr>
        <p:spPr>
          <a:xfrm>
            <a:off x="10473692" y="6522444"/>
            <a:ext cx="612000" cy="216000"/>
          </a:xfrm>
          <a:prstGeom prst="rect">
            <a:avLst/>
          </a:prstGeom>
        </p:spPr>
        <p:txBody>
          <a:bodyPr vert="horz" lIns="0" tIns="0" rIns="0" bIns="0" rtlCol="0" anchor="ctr"/>
          <a:lstStyle>
            <a:lvl1pPr algn="l">
              <a:defRPr sz="800">
                <a:solidFill>
                  <a:schemeClr val="tx1"/>
                </a:solidFill>
              </a:defRPr>
            </a:lvl1pPr>
          </a:lstStyle>
          <a:p>
            <a:fld id="{4A358CF3-A22A-46C1-A4E5-5810212466EF}" type="datetime1">
              <a:rPr lang="de-CH" noProof="0" smtClean="0"/>
              <a:t>24.05.23</a:t>
            </a:fld>
            <a:endParaRPr lang="de-CH" noProof="0"/>
          </a:p>
        </p:txBody>
      </p:sp>
      <p:sp>
        <p:nvSpPr>
          <p:cNvPr id="5" name="Fußzeilenplatzhalter 4">
            <a:extLst>
              <a:ext uri="{FF2B5EF4-FFF2-40B4-BE49-F238E27FC236}">
                <a16:creationId xmlns:a16="http://schemas.microsoft.com/office/drawing/2014/main" id="{411EC403-6E63-4450-AFDD-66CA49D6CCBE}"/>
              </a:ext>
            </a:extLst>
          </p:cNvPr>
          <p:cNvSpPr>
            <a:spLocks noGrp="1"/>
          </p:cNvSpPr>
          <p:nvPr>
            <p:ph type="ftr" sz="quarter" idx="3"/>
          </p:nvPr>
        </p:nvSpPr>
        <p:spPr>
          <a:xfrm>
            <a:off x="2171700" y="6522444"/>
            <a:ext cx="5400000" cy="216000"/>
          </a:xfrm>
          <a:prstGeom prst="rect">
            <a:avLst/>
          </a:prstGeom>
        </p:spPr>
        <p:txBody>
          <a:bodyPr vert="horz" lIns="0" tIns="0" rIns="0" bIns="0" rtlCol="0" anchor="ctr"/>
          <a:lstStyle>
            <a:lvl1pPr algn="l">
              <a:defRPr sz="800">
                <a:solidFill>
                  <a:schemeClr val="tx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7FDFCC57-7DDC-4B2C-A6BE-862DAF9C9F11}"/>
              </a:ext>
            </a:extLst>
          </p:cNvPr>
          <p:cNvSpPr>
            <a:spLocks noGrp="1"/>
          </p:cNvSpPr>
          <p:nvPr>
            <p:ph type="sldNum" sz="quarter" idx="4"/>
          </p:nvPr>
        </p:nvSpPr>
        <p:spPr>
          <a:xfrm>
            <a:off x="11137585" y="6522444"/>
            <a:ext cx="322577" cy="216000"/>
          </a:xfrm>
          <a:prstGeom prst="rect">
            <a:avLst/>
          </a:prstGeom>
        </p:spPr>
        <p:txBody>
          <a:bodyPr vert="horz" lIns="0" tIns="0" rIns="0" bIns="0" rtlCol="0" anchor="ctr"/>
          <a:lstStyle>
            <a:lvl1pPr algn="r">
              <a:defRPr sz="800">
                <a:solidFill>
                  <a:schemeClr val="tx1"/>
                </a:solidFill>
              </a:defRPr>
            </a:lvl1pPr>
          </a:lstStyle>
          <a:p>
            <a:fld id="{5ACA52AF-F19D-405C-AD5F-7D94B96A5CC3}" type="slidenum">
              <a:rPr lang="de-CH" noProof="0" smtClean="0"/>
              <a:pPr/>
              <a:t>‹Nr.›</a:t>
            </a:fld>
            <a:endParaRPr lang="de-CH" noProof="0"/>
          </a:p>
        </p:txBody>
      </p:sp>
    </p:spTree>
    <p:extLst>
      <p:ext uri="{BB962C8B-B14F-4D97-AF65-F5344CB8AC3E}">
        <p14:creationId xmlns:p14="http://schemas.microsoft.com/office/powerpoint/2010/main" val="40960627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0"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61" userDrawn="1">
          <p15:clr>
            <a:srgbClr val="F26B43"/>
          </p15:clr>
        </p15:guide>
        <p15:guide id="3" pos="7219" userDrawn="1">
          <p15:clr>
            <a:srgbClr val="F26B43"/>
          </p15:clr>
        </p15:guide>
        <p15:guide id="4" orient="horz" pos="164" userDrawn="1">
          <p15:clr>
            <a:srgbClr val="F26B43"/>
          </p15:clr>
        </p15:guide>
        <p15:guide id="5" orient="horz" pos="890" userDrawn="1">
          <p15:clr>
            <a:srgbClr val="F26B43"/>
          </p15:clr>
        </p15:guide>
        <p15:guide id="6" orient="horz" pos="420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176272" y="6519672"/>
            <a:ext cx="5404104" cy="219456"/>
          </a:xfrm>
          <a:prstGeom prst="rect">
            <a:avLst/>
          </a:prstGeom>
          <a:noFill/>
        </p:spPr>
        <p:txBody>
          <a:bodyPr wrap="square" lIns="0" rIns="0" tIns="0" bIns="0" anchor="ctr">
            <a:spAutoFit/>
          </a:bodyPr>
          <a:lstStyle/>
          <a:p>
            <a:pPr algn="l">
              <a:lnSpc>
                <a:spcPct val="100000"/>
              </a:lnSpc>
            </a:pPr>
            <a:r>
              <a:rPr sz="850" b="0" i="0">
                <a:solidFill>
                  <a:srgbClr val="000000"/>
                </a:solidFill>
                <a:latin typeface="Arial"/>
              </a:rPr>
              <a:t>ITES · UPSCALE · Working Package 4</a:t>
            </a:r>
          </a:p>
        </p:txBody>
      </p:sp>
      <p:sp>
        <p:nvSpPr>
          <p:cNvPr id="3" name="TextBox 2"/>
          <p:cNvSpPr txBox="1"/>
          <p:nvPr/>
        </p:nvSpPr>
        <p:spPr>
          <a:xfrm>
            <a:off x="9326880" y="6519672"/>
            <a:ext cx="1417320" cy="219456"/>
          </a:xfrm>
          <a:prstGeom prst="rect">
            <a:avLst/>
          </a:prstGeom>
          <a:noFill/>
        </p:spPr>
        <p:txBody>
          <a:bodyPr wrap="square" lIns="0" rIns="0" tIns="0" bIns="0" anchor="ctr">
            <a:spAutoFit/>
          </a:bodyPr>
          <a:lstStyle/>
          <a:p>
            <a:pPr algn="r">
              <a:lnSpc>
                <a:spcPct val="100000"/>
              </a:lnSpc>
            </a:pPr>
            <a:r>
              <a:rPr sz="850" b="0" i="0">
                <a:solidFill>
                  <a:srgbClr val="000000"/>
                </a:solidFill>
                <a:latin typeface="Arial"/>
              </a:rPr>
              <a:t>08.09.2026</a:t>
            </a:r>
          </a:p>
        </p:txBody>
      </p:sp>
      <p:pic>
        <p:nvPicPr>
          <p:cNvPr id="4" name="Picture 3" descr="upscale_logo.png"/>
          <p:cNvPicPr>
            <a:picLocks noChangeAspect="1"/>
          </p:cNvPicPr>
          <p:nvPr/>
        </p:nvPicPr>
        <p:blipFill>
          <a:blip r:embed="rId2"/>
          <a:stretch>
            <a:fillRect/>
          </a:stretch>
        </p:blipFill>
        <p:spPr>
          <a:xfrm>
            <a:off x="9849190" y="502920"/>
            <a:ext cx="1608241" cy="1371600"/>
          </a:xfrm>
          <a:prstGeom prst="rect">
            <a:avLst/>
          </a:prstGeom>
        </p:spPr>
      </p:pic>
      <p:sp>
        <p:nvSpPr>
          <p:cNvPr id="5" name="TextBox 4"/>
          <p:cNvSpPr txBox="1"/>
          <p:nvPr/>
        </p:nvSpPr>
        <p:spPr>
          <a:xfrm>
            <a:off x="731520" y="2148840"/>
            <a:ext cx="10725912" cy="292608"/>
          </a:xfrm>
          <a:prstGeom prst="rect">
            <a:avLst/>
          </a:prstGeom>
          <a:noFill/>
        </p:spPr>
        <p:txBody>
          <a:bodyPr wrap="square" lIns="0" rIns="0" tIns="0" bIns="0" anchor="t">
            <a:spAutoFit/>
          </a:bodyPr>
          <a:lstStyle/>
          <a:p>
            <a:pPr algn="l">
              <a:lnSpc>
                <a:spcPct val="100000"/>
              </a:lnSpc>
            </a:pPr>
            <a:r>
              <a:rPr sz="1300" b="1" i="0" spc="180">
                <a:solidFill>
                  <a:srgbClr val="215CAF"/>
                </a:solidFill>
                <a:latin typeface="Arial"/>
              </a:rPr>
              <a:t>UPSCALE  ·  WORKING-PACKAGE UPDATE  ·  SWITZERLAND VEGETATION PILOT</a:t>
            </a:r>
          </a:p>
        </p:txBody>
      </p:sp>
      <p:sp>
        <p:nvSpPr>
          <p:cNvPr id="6" name="TextBox 5"/>
          <p:cNvSpPr txBox="1"/>
          <p:nvPr/>
        </p:nvSpPr>
        <p:spPr>
          <a:xfrm>
            <a:off x="731520" y="2560320"/>
            <a:ext cx="10725912" cy="1371600"/>
          </a:xfrm>
          <a:prstGeom prst="rect">
            <a:avLst/>
          </a:prstGeom>
          <a:noFill/>
        </p:spPr>
        <p:txBody>
          <a:bodyPr wrap="square" lIns="0" rIns="0" tIns="0" bIns="0" anchor="t">
            <a:spAutoFit/>
          </a:bodyPr>
          <a:lstStyle/>
          <a:p>
            <a:pPr algn="l">
              <a:lnSpc>
                <a:spcPct val="105000"/>
              </a:lnSpc>
            </a:pPr>
            <a:r>
              <a:rPr sz="3600" b="1" i="0">
                <a:solidFill>
                  <a:srgbClr val="000000"/>
                </a:solidFill>
                <a:latin typeface="Arial"/>
              </a:rPr>
              <a:t>Two routes to a national
vegetation-condition product</a:t>
            </a:r>
          </a:p>
        </p:txBody>
      </p:sp>
      <p:sp>
        <p:nvSpPr>
          <p:cNvPr id="7" name="TextBox 6"/>
          <p:cNvSpPr txBox="1"/>
          <p:nvPr/>
        </p:nvSpPr>
        <p:spPr>
          <a:xfrm>
            <a:off x="731520" y="4114800"/>
            <a:ext cx="10725912" cy="457200"/>
          </a:xfrm>
          <a:prstGeom prst="rect">
            <a:avLst/>
          </a:prstGeom>
          <a:noFill/>
        </p:spPr>
        <p:txBody>
          <a:bodyPr wrap="square" lIns="0" rIns="0" tIns="0" bIns="0" anchor="t">
            <a:spAutoFit/>
          </a:bodyPr>
          <a:lstStyle/>
          <a:p>
            <a:pPr algn="l">
              <a:lnSpc>
                <a:spcPct val="100000"/>
              </a:lnSpc>
            </a:pPr>
            <a:r>
              <a:rPr sz="1700" b="0" i="0">
                <a:solidFill>
                  <a:srgbClr val="1A1A1A"/>
                </a:solidFill>
                <a:latin typeface="Arial"/>
              </a:rPr>
              <a:t>Copernicus Sentinel-2 L2A and swissEO S2-SR compared for July 2024</a:t>
            </a:r>
          </a:p>
        </p:txBody>
      </p:sp>
      <p:sp>
        <p:nvSpPr>
          <p:cNvPr id="8" name="Rectangle 7"/>
          <p:cNvSpPr/>
          <p:nvPr/>
        </p:nvSpPr>
        <p:spPr>
          <a:xfrm>
            <a:off x="731520" y="4983480"/>
            <a:ext cx="10725912" cy="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120640"/>
            <a:ext cx="10725912" cy="274320"/>
          </a:xfrm>
          <a:prstGeom prst="rect">
            <a:avLst/>
          </a:prstGeom>
          <a:noFill/>
        </p:spPr>
        <p:txBody>
          <a:bodyPr wrap="square" lIns="0" rIns="0" tIns="0" bIns="0" anchor="t">
            <a:spAutoFit/>
          </a:bodyPr>
          <a:lstStyle/>
          <a:p>
            <a:pPr algn="l">
              <a:lnSpc>
                <a:spcPct val="100000"/>
              </a:lnSpc>
            </a:pPr>
            <a:r>
              <a:rPr sz="1100" b="0" i="0">
                <a:solidFill>
                  <a:srgbClr val="6F6F6F"/>
                </a:solidFill>
                <a:latin typeface="Arial"/>
              </a:rPr>
              <a:t>Normand Overney  ·  ITES, ETH Zürich   ·   08.09.2026   ·   TerraVault pilot, UPSCALE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was compared</a:t>
            </a:r>
          </a:p>
        </p:txBody>
      </p:sp>
      <p:sp>
        <p:nvSpPr>
          <p:cNvPr id="3" name="TextBox 2"/>
          <p:cNvSpPr txBox="1"/>
          <p:nvPr/>
        </p:nvSpPr>
        <p:spPr>
          <a:xfrm>
            <a:off x="2176272" y="6519672"/>
            <a:ext cx="5404104" cy="219456"/>
          </a:xfrm>
          <a:prstGeom prst="rect">
            <a:avLst/>
          </a:prstGeom>
          <a:noFill/>
        </p:spPr>
        <p:txBody>
          <a:bodyPr wrap="square" lIns="0" rIns="0" tIns="0" bIns="0" anchor="ctr">
            <a:spAutoFit/>
          </a:bodyPr>
          <a:lstStyle/>
          <a:p>
            <a:pPr algn="l">
              <a:lnSpc>
                <a:spcPct val="100000"/>
              </a:lnSpc>
            </a:pPr>
            <a:r>
              <a:rPr sz="850" b="0" i="0">
                <a:solidFill>
                  <a:srgbClr val="000000"/>
                </a:solidFill>
                <a:latin typeface="Arial"/>
              </a:rPr>
              <a:t>ITES · UPSCALE · Working Package 4</a:t>
            </a:r>
          </a:p>
        </p:txBody>
      </p:sp>
      <p:sp>
        <p:nvSpPr>
          <p:cNvPr id="4" name="TextBox 3"/>
          <p:cNvSpPr txBox="1"/>
          <p:nvPr/>
        </p:nvSpPr>
        <p:spPr>
          <a:xfrm>
            <a:off x="9326880" y="6519672"/>
            <a:ext cx="1417320" cy="219456"/>
          </a:xfrm>
          <a:prstGeom prst="rect">
            <a:avLst/>
          </a:prstGeom>
          <a:noFill/>
        </p:spPr>
        <p:txBody>
          <a:bodyPr wrap="square" lIns="0" rIns="0" tIns="0" bIns="0" anchor="ctr">
            <a:spAutoFit/>
          </a:bodyPr>
          <a:lstStyle/>
          <a:p>
            <a:pPr algn="r">
              <a:lnSpc>
                <a:spcPct val="100000"/>
              </a:lnSpc>
            </a:pPr>
            <a:r>
              <a:rPr sz="850" b="0" i="0">
                <a:solidFill>
                  <a:srgbClr val="000000"/>
                </a:solidFill>
                <a:latin typeface="Arial"/>
              </a:rPr>
              <a:t>08.09.2026</a:t>
            </a:r>
          </a:p>
        </p:txBody>
      </p:sp>
      <p:sp>
        <p:nvSpPr>
          <p:cNvPr id="5" name="TextBox 4"/>
          <p:cNvSpPr txBox="1"/>
          <p:nvPr/>
        </p:nvSpPr>
        <p:spPr>
          <a:xfrm>
            <a:off x="11018520" y="6519672"/>
            <a:ext cx="411480" cy="219456"/>
          </a:xfrm>
          <a:prstGeom prst="rect">
            <a:avLst/>
          </a:prstGeom>
          <a:noFill/>
        </p:spPr>
        <p:txBody>
          <a:bodyPr wrap="square" lIns="0" rIns="0" tIns="0" bIns="0" anchor="ctr">
            <a:spAutoFit/>
          </a:bodyPr>
          <a:lstStyle/>
          <a:p>
            <a:pPr algn="ctr">
              <a:lnSpc>
                <a:spcPct val="100000"/>
              </a:lnSpc>
            </a:pPr>
            <a:r>
              <a:rPr sz="850" b="0" i="0">
                <a:solidFill>
                  <a:srgbClr val="000000"/>
                </a:solidFill>
                <a:latin typeface="Arial"/>
              </a:rPr>
              <a:t>2</a:t>
            </a:r>
          </a:p>
        </p:txBody>
      </p:sp>
      <p:sp>
        <p:nvSpPr>
          <p:cNvPr id="6" name="TextBox 5"/>
          <p:cNvSpPr txBox="1"/>
          <p:nvPr/>
        </p:nvSpPr>
        <p:spPr>
          <a:xfrm>
            <a:off x="731520" y="1481328"/>
            <a:ext cx="10725912" cy="502920"/>
          </a:xfrm>
          <a:prstGeom prst="rect">
            <a:avLst/>
          </a:prstGeom>
          <a:noFill/>
        </p:spPr>
        <p:txBody>
          <a:bodyPr wrap="square" lIns="0" rIns="0" tIns="0" bIns="0" anchor="t">
            <a:spAutoFit/>
          </a:bodyPr>
          <a:lstStyle/>
          <a:p>
            <a:pPr algn="l">
              <a:lnSpc>
                <a:spcPct val="100000"/>
              </a:lnSpc>
            </a:pPr>
            <a:r>
              <a:rPr sz="1400" b="0" i="0">
                <a:solidFill>
                  <a:srgbClr val="1A1A1A"/>
                </a:solidFill>
                <a:latin typeface="Arial"/>
              </a:rPr>
              <a:t>Two independently produced July 2024 products, standardised to the same Swiss cutline, the same physical reflectance definition and the same four index equations.</a:t>
            </a:r>
          </a:p>
        </p:txBody>
      </p:sp>
      <p:sp>
        <p:nvSpPr>
          <p:cNvPr id="7" name="Rectangle 6"/>
          <p:cNvSpPr/>
          <p:nvPr/>
        </p:nvSpPr>
        <p:spPr>
          <a:xfrm>
            <a:off x="731520" y="2057400"/>
            <a:ext cx="5225796" cy="2450592"/>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057400"/>
            <a:ext cx="5225796" cy="548640"/>
          </a:xfrm>
          <a:prstGeom prst="rect">
            <a:avLst/>
          </a:prstGeom>
          <a:solidFill>
            <a:srgbClr val="215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4768596" cy="548640"/>
          </a:xfrm>
          <a:prstGeom prst="rect">
            <a:avLst/>
          </a:prstGeom>
          <a:noFill/>
        </p:spPr>
        <p:txBody>
          <a:bodyPr wrap="square" lIns="0" rIns="0" tIns="0" bIns="0" anchor="ctr">
            <a:spAutoFit/>
          </a:bodyPr>
          <a:lstStyle/>
          <a:p>
            <a:pPr algn="l">
              <a:lnSpc>
                <a:spcPct val="100000"/>
              </a:lnSpc>
            </a:pPr>
            <a:r>
              <a:rPr sz="1400" b="1" i="0">
                <a:solidFill>
                  <a:srgbClr val="FFFFFF"/>
                </a:solidFill>
                <a:latin typeface="Arial"/>
              </a:rPr>
              <a:t>Sentinel-2 / Copernicus L2A</a:t>
            </a:r>
          </a:p>
        </p:txBody>
      </p:sp>
      <p:sp>
        <p:nvSpPr>
          <p:cNvPr id="10" name="TextBox 9"/>
          <p:cNvSpPr txBox="1"/>
          <p:nvPr/>
        </p:nvSpPr>
        <p:spPr>
          <a:xfrm>
            <a:off x="1005840" y="2734056"/>
            <a:ext cx="1600200" cy="402336"/>
          </a:xfrm>
          <a:prstGeom prst="rect">
            <a:avLst/>
          </a:prstGeom>
          <a:noFill/>
        </p:spPr>
        <p:txBody>
          <a:bodyPr wrap="square" lIns="0" rIns="0" tIns="0" bIns="0" anchor="ctr">
            <a:spAutoFit/>
          </a:bodyPr>
          <a:lstStyle/>
          <a:p>
            <a:pPr algn="l">
              <a:lnSpc>
                <a:spcPct val="100000"/>
              </a:lnSpc>
            </a:pPr>
            <a:r>
              <a:rPr sz="1200" b="1" i="0">
                <a:solidFill>
                  <a:srgbClr val="215CAF"/>
                </a:solidFill>
                <a:latin typeface="Arial"/>
              </a:rPr>
              <a:t>65 scenes</a:t>
            </a:r>
          </a:p>
        </p:txBody>
      </p:sp>
      <p:sp>
        <p:nvSpPr>
          <p:cNvPr id="11" name="TextBox 10"/>
          <p:cNvSpPr txBox="1"/>
          <p:nvPr/>
        </p:nvSpPr>
        <p:spPr>
          <a:xfrm>
            <a:off x="2651760" y="2734056"/>
            <a:ext cx="3031236" cy="402336"/>
          </a:xfrm>
          <a:prstGeom prst="rect">
            <a:avLst/>
          </a:prstGeom>
          <a:noFill/>
        </p:spPr>
        <p:txBody>
          <a:bodyPr wrap="square" lIns="0" rIns="0" tIns="0" bIns="0" anchor="ctr">
            <a:spAutoFit/>
          </a:bodyPr>
          <a:lstStyle/>
          <a:p>
            <a:pPr algn="l">
              <a:lnSpc>
                <a:spcPct val="95000"/>
              </a:lnSpc>
            </a:pPr>
            <a:r>
              <a:rPr sz="1050" b="0" i="0">
                <a:solidFill>
                  <a:srgbClr val="1A1A1A"/>
                </a:solidFill>
                <a:latin typeface="Arial"/>
              </a:rPr>
              <a:t>520 downloaded band and mask assets</a:t>
            </a:r>
          </a:p>
        </p:txBody>
      </p:sp>
      <p:sp>
        <p:nvSpPr>
          <p:cNvPr id="12" name="TextBox 11"/>
          <p:cNvSpPr txBox="1"/>
          <p:nvPr/>
        </p:nvSpPr>
        <p:spPr>
          <a:xfrm>
            <a:off x="1005840" y="3163824"/>
            <a:ext cx="1600200" cy="402336"/>
          </a:xfrm>
          <a:prstGeom prst="rect">
            <a:avLst/>
          </a:prstGeom>
          <a:noFill/>
        </p:spPr>
        <p:txBody>
          <a:bodyPr wrap="square" lIns="0" rIns="0" tIns="0" bIns="0" anchor="ctr">
            <a:spAutoFit/>
          </a:bodyPr>
          <a:lstStyle/>
          <a:p>
            <a:pPr algn="l">
              <a:lnSpc>
                <a:spcPct val="100000"/>
              </a:lnSpc>
            </a:pPr>
            <a:r>
              <a:rPr sz="1200" b="1" i="0">
                <a:solidFill>
                  <a:srgbClr val="215CAF"/>
                </a:solidFill>
                <a:latin typeface="Arial"/>
              </a:rPr>
              <a:t>≤ 20 % cloud</a:t>
            </a:r>
          </a:p>
        </p:txBody>
      </p:sp>
      <p:sp>
        <p:nvSpPr>
          <p:cNvPr id="13" name="TextBox 12"/>
          <p:cNvSpPr txBox="1"/>
          <p:nvPr/>
        </p:nvSpPr>
        <p:spPr>
          <a:xfrm>
            <a:off x="2651760" y="3163824"/>
            <a:ext cx="3031236" cy="402336"/>
          </a:xfrm>
          <a:prstGeom prst="rect">
            <a:avLst/>
          </a:prstGeom>
          <a:noFill/>
        </p:spPr>
        <p:txBody>
          <a:bodyPr wrap="square" lIns="0" rIns="0" tIns="0" bIns="0" anchor="ctr">
            <a:spAutoFit/>
          </a:bodyPr>
          <a:lstStyle/>
          <a:p>
            <a:pPr algn="l">
              <a:lnSpc>
                <a:spcPct val="95000"/>
              </a:lnSpc>
            </a:pPr>
            <a:r>
              <a:rPr sz="1050" b="0" i="0">
                <a:solidFill>
                  <a:srgbClr val="1A1A1A"/>
                </a:solidFill>
                <a:latin typeface="Arial"/>
              </a:rPr>
              <a:t>mean catalogue cloud of accepted scenes 11.64 %</a:t>
            </a:r>
          </a:p>
        </p:txBody>
      </p:sp>
      <p:sp>
        <p:nvSpPr>
          <p:cNvPr id="14" name="TextBox 13"/>
          <p:cNvSpPr txBox="1"/>
          <p:nvPr/>
        </p:nvSpPr>
        <p:spPr>
          <a:xfrm>
            <a:off x="1005840" y="3593591"/>
            <a:ext cx="1600200" cy="402336"/>
          </a:xfrm>
          <a:prstGeom prst="rect">
            <a:avLst/>
          </a:prstGeom>
          <a:noFill/>
        </p:spPr>
        <p:txBody>
          <a:bodyPr wrap="square" lIns="0" rIns="0" tIns="0" bIns="0" anchor="ctr">
            <a:spAutoFit/>
          </a:bodyPr>
          <a:lstStyle/>
          <a:p>
            <a:pPr algn="l">
              <a:lnSpc>
                <a:spcPct val="100000"/>
              </a:lnSpc>
            </a:pPr>
            <a:r>
              <a:rPr sz="1200" b="1" i="0">
                <a:solidFill>
                  <a:srgbClr val="215CAF"/>
                </a:solidFill>
                <a:latin typeface="Arial"/>
              </a:rPr>
              <a:t>SCL + CLD</a:t>
            </a:r>
          </a:p>
        </p:txBody>
      </p:sp>
      <p:sp>
        <p:nvSpPr>
          <p:cNvPr id="15" name="TextBox 14"/>
          <p:cNvSpPr txBox="1"/>
          <p:nvPr/>
        </p:nvSpPr>
        <p:spPr>
          <a:xfrm>
            <a:off x="2651760" y="3593591"/>
            <a:ext cx="3031236" cy="402336"/>
          </a:xfrm>
          <a:prstGeom prst="rect">
            <a:avLst/>
          </a:prstGeom>
          <a:noFill/>
        </p:spPr>
        <p:txBody>
          <a:bodyPr wrap="square" lIns="0" rIns="0" tIns="0" bIns="0" anchor="ctr">
            <a:spAutoFit/>
          </a:bodyPr>
          <a:lstStyle/>
          <a:p>
            <a:pPr algn="l">
              <a:lnSpc>
                <a:spcPct val="95000"/>
              </a:lnSpc>
            </a:pPr>
            <a:r>
              <a:rPr sz="1050" b="0" i="0">
                <a:solidFill>
                  <a:srgbClr val="1A1A1A"/>
                </a:solidFill>
                <a:latin typeface="Arial"/>
              </a:rPr>
              <a:t>invalid SCL classes dropped, CLD ≤ 30 %</a:t>
            </a:r>
          </a:p>
        </p:txBody>
      </p:sp>
      <p:sp>
        <p:nvSpPr>
          <p:cNvPr id="16" name="TextBox 15"/>
          <p:cNvSpPr txBox="1"/>
          <p:nvPr/>
        </p:nvSpPr>
        <p:spPr>
          <a:xfrm>
            <a:off x="1005840" y="4023359"/>
            <a:ext cx="1600200" cy="402336"/>
          </a:xfrm>
          <a:prstGeom prst="rect">
            <a:avLst/>
          </a:prstGeom>
          <a:noFill/>
        </p:spPr>
        <p:txBody>
          <a:bodyPr wrap="square" lIns="0" rIns="0" tIns="0" bIns="0" anchor="ctr">
            <a:spAutoFit/>
          </a:bodyPr>
          <a:lstStyle/>
          <a:p>
            <a:pPr algn="l">
              <a:lnSpc>
                <a:spcPct val="100000"/>
              </a:lnSpc>
            </a:pPr>
            <a:r>
              <a:rPr sz="1200" b="1" i="0">
                <a:solidFill>
                  <a:srgbClr val="215CAF"/>
                </a:solidFill>
                <a:latin typeface="Arial"/>
              </a:rPr>
              <a:t>Local archive</a:t>
            </a:r>
          </a:p>
        </p:txBody>
      </p:sp>
      <p:sp>
        <p:nvSpPr>
          <p:cNvPr id="17" name="TextBox 16"/>
          <p:cNvSpPr txBox="1"/>
          <p:nvPr/>
        </p:nvSpPr>
        <p:spPr>
          <a:xfrm>
            <a:off x="2651760" y="4023359"/>
            <a:ext cx="3031236" cy="402336"/>
          </a:xfrm>
          <a:prstGeom prst="rect">
            <a:avLst/>
          </a:prstGeom>
          <a:noFill/>
        </p:spPr>
        <p:txBody>
          <a:bodyPr wrap="square" lIns="0" rIns="0" tIns="0" bIns="0" anchor="ctr">
            <a:spAutoFit/>
          </a:bodyPr>
          <a:lstStyle/>
          <a:p>
            <a:pPr algn="l">
              <a:lnSpc>
                <a:spcPct val="95000"/>
              </a:lnSpc>
            </a:pPr>
            <a:r>
              <a:rPr sz="1050" b="0" i="0">
                <a:solidFill>
                  <a:srgbClr val="1A1A1A"/>
                </a:solidFill>
                <a:latin typeface="Arial"/>
              </a:rPr>
              <a:t>starts from downloaded L2A assets</a:t>
            </a:r>
          </a:p>
        </p:txBody>
      </p:sp>
      <p:sp>
        <p:nvSpPr>
          <p:cNvPr id="18" name="Rectangle 17"/>
          <p:cNvSpPr/>
          <p:nvPr/>
        </p:nvSpPr>
        <p:spPr>
          <a:xfrm>
            <a:off x="6231636" y="2057400"/>
            <a:ext cx="5225796" cy="2450592"/>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1636" y="2057400"/>
            <a:ext cx="5225796" cy="5486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5955" y="2057400"/>
            <a:ext cx="4768596" cy="548640"/>
          </a:xfrm>
          <a:prstGeom prst="rect">
            <a:avLst/>
          </a:prstGeom>
          <a:noFill/>
        </p:spPr>
        <p:txBody>
          <a:bodyPr wrap="square" lIns="0" rIns="0" tIns="0" bIns="0" anchor="ctr">
            <a:spAutoFit/>
          </a:bodyPr>
          <a:lstStyle/>
          <a:p>
            <a:pPr algn="l">
              <a:lnSpc>
                <a:spcPct val="100000"/>
              </a:lnSpc>
            </a:pPr>
            <a:r>
              <a:rPr sz="1400" b="1" i="0">
                <a:solidFill>
                  <a:srgbClr val="FFFFFF"/>
                </a:solidFill>
                <a:latin typeface="Arial"/>
              </a:rPr>
              <a:t>swissEO S2-SR</a:t>
            </a:r>
          </a:p>
        </p:txBody>
      </p:sp>
      <p:sp>
        <p:nvSpPr>
          <p:cNvPr id="21" name="TextBox 20"/>
          <p:cNvSpPr txBox="1"/>
          <p:nvPr/>
        </p:nvSpPr>
        <p:spPr>
          <a:xfrm>
            <a:off x="6505955" y="2734056"/>
            <a:ext cx="1600200" cy="402336"/>
          </a:xfrm>
          <a:prstGeom prst="rect">
            <a:avLst/>
          </a:prstGeom>
          <a:noFill/>
        </p:spPr>
        <p:txBody>
          <a:bodyPr wrap="square" lIns="0" rIns="0" tIns="0" bIns="0" anchor="ctr">
            <a:spAutoFit/>
          </a:bodyPr>
          <a:lstStyle/>
          <a:p>
            <a:pPr algn="l">
              <a:lnSpc>
                <a:spcPct val="100000"/>
              </a:lnSpc>
            </a:pPr>
            <a:r>
              <a:rPr sz="1200" b="1" i="0">
                <a:solidFill>
                  <a:srgbClr val="000000"/>
                </a:solidFill>
                <a:latin typeface="Arial"/>
              </a:rPr>
              <a:t>16 products</a:t>
            </a:r>
          </a:p>
        </p:txBody>
      </p:sp>
      <p:sp>
        <p:nvSpPr>
          <p:cNvPr id="22" name="TextBox 21"/>
          <p:cNvSpPr txBox="1"/>
          <p:nvPr/>
        </p:nvSpPr>
        <p:spPr>
          <a:xfrm>
            <a:off x="8151875" y="2734056"/>
            <a:ext cx="3031236" cy="402336"/>
          </a:xfrm>
          <a:prstGeom prst="rect">
            <a:avLst/>
          </a:prstGeom>
          <a:noFill/>
        </p:spPr>
        <p:txBody>
          <a:bodyPr wrap="square" lIns="0" rIns="0" tIns="0" bIns="0" anchor="ctr">
            <a:spAutoFit/>
          </a:bodyPr>
          <a:lstStyle/>
          <a:p>
            <a:pPr algn="l">
              <a:lnSpc>
                <a:spcPct val="95000"/>
              </a:lnSpc>
            </a:pPr>
            <a:r>
              <a:rPr sz="1050" b="0" i="0">
                <a:solidFill>
                  <a:srgbClr val="1A1A1A"/>
                </a:solidFill>
                <a:latin typeface="Arial"/>
              </a:rPr>
              <a:t>every published same-orbit mosaic for July 2024</a:t>
            </a:r>
          </a:p>
        </p:txBody>
      </p:sp>
      <p:sp>
        <p:nvSpPr>
          <p:cNvPr id="23" name="TextBox 22"/>
          <p:cNvSpPr txBox="1"/>
          <p:nvPr/>
        </p:nvSpPr>
        <p:spPr>
          <a:xfrm>
            <a:off x="6505955" y="3163824"/>
            <a:ext cx="1600200" cy="402336"/>
          </a:xfrm>
          <a:prstGeom prst="rect">
            <a:avLst/>
          </a:prstGeom>
          <a:noFill/>
        </p:spPr>
        <p:txBody>
          <a:bodyPr wrap="square" lIns="0" rIns="0" tIns="0" bIns="0" anchor="ctr">
            <a:spAutoFit/>
          </a:bodyPr>
          <a:lstStyle/>
          <a:p>
            <a:pPr algn="l">
              <a:lnSpc>
                <a:spcPct val="100000"/>
              </a:lnSpc>
            </a:pPr>
            <a:r>
              <a:rPr sz="1200" b="1" i="0">
                <a:solidFill>
                  <a:srgbClr val="000000"/>
                </a:solidFill>
                <a:latin typeface="Arial"/>
              </a:rPr>
              <a:t>43.2 % masked</a:t>
            </a:r>
          </a:p>
        </p:txBody>
      </p:sp>
      <p:sp>
        <p:nvSpPr>
          <p:cNvPr id="24" name="TextBox 23"/>
          <p:cNvSpPr txBox="1"/>
          <p:nvPr/>
        </p:nvSpPr>
        <p:spPr>
          <a:xfrm>
            <a:off x="8151875" y="3163824"/>
            <a:ext cx="3031236" cy="402336"/>
          </a:xfrm>
          <a:prstGeom prst="rect">
            <a:avLst/>
          </a:prstGeom>
          <a:noFill/>
        </p:spPr>
        <p:txBody>
          <a:bodyPr wrap="square" lIns="0" rIns="0" tIns="0" bIns="0" anchor="ctr">
            <a:spAutoFit/>
          </a:bodyPr>
          <a:lstStyle/>
          <a:p>
            <a:pPr algn="l">
              <a:lnSpc>
                <a:spcPct val="95000"/>
              </a:lnSpc>
            </a:pPr>
            <a:r>
              <a:rPr sz="1050" b="0" i="0">
                <a:solidFill>
                  <a:srgbClr val="1A1A1A"/>
                </a:solidFill>
                <a:latin typeface="Arial"/>
              </a:rPr>
              <a:t>mean source-reported percent_masked</a:t>
            </a:r>
          </a:p>
        </p:txBody>
      </p:sp>
      <p:sp>
        <p:nvSpPr>
          <p:cNvPr id="25" name="TextBox 24"/>
          <p:cNvSpPr txBox="1"/>
          <p:nvPr/>
        </p:nvSpPr>
        <p:spPr>
          <a:xfrm>
            <a:off x="6505955" y="3593591"/>
            <a:ext cx="1600200" cy="402336"/>
          </a:xfrm>
          <a:prstGeom prst="rect">
            <a:avLst/>
          </a:prstGeom>
          <a:noFill/>
        </p:spPr>
        <p:txBody>
          <a:bodyPr wrap="square" lIns="0" rIns="0" tIns="0" bIns="0" anchor="ctr">
            <a:spAutoFit/>
          </a:bodyPr>
          <a:lstStyle/>
          <a:p>
            <a:pPr algn="l">
              <a:lnSpc>
                <a:spcPct val="100000"/>
              </a:lnSpc>
            </a:pPr>
            <a:r>
              <a:rPr sz="1200" b="1" i="0">
                <a:solidFill>
                  <a:srgbClr val="000000"/>
                </a:solidFill>
                <a:latin typeface="Arial"/>
              </a:rPr>
              <a:t>Published masks</a:t>
            </a:r>
          </a:p>
        </p:txBody>
      </p:sp>
      <p:sp>
        <p:nvSpPr>
          <p:cNvPr id="26" name="TextBox 25"/>
          <p:cNvSpPr txBox="1"/>
          <p:nvPr/>
        </p:nvSpPr>
        <p:spPr>
          <a:xfrm>
            <a:off x="8151875" y="3593591"/>
            <a:ext cx="3031236" cy="402336"/>
          </a:xfrm>
          <a:prstGeom prst="rect">
            <a:avLst/>
          </a:prstGeom>
          <a:noFill/>
        </p:spPr>
        <p:txBody>
          <a:bodyPr wrap="square" lIns="0" rIns="0" tIns="0" bIns="0" anchor="ctr">
            <a:spAutoFit/>
          </a:bodyPr>
          <a:lstStyle/>
          <a:p>
            <a:pPr algn="l">
              <a:lnSpc>
                <a:spcPct val="95000"/>
              </a:lnSpc>
            </a:pPr>
            <a:r>
              <a:rPr sz="1050" b="0" i="0">
                <a:solidFill>
                  <a:srgbClr val="1A1A1A"/>
                </a:solidFill>
                <a:latin typeface="Arial"/>
              </a:rPr>
              <a:t>cloud, cloud-shadow and terrain-shadow bands</a:t>
            </a:r>
          </a:p>
        </p:txBody>
      </p:sp>
      <p:sp>
        <p:nvSpPr>
          <p:cNvPr id="27" name="TextBox 26"/>
          <p:cNvSpPr txBox="1"/>
          <p:nvPr/>
        </p:nvSpPr>
        <p:spPr>
          <a:xfrm>
            <a:off x="6505955" y="4023359"/>
            <a:ext cx="1600200" cy="402336"/>
          </a:xfrm>
          <a:prstGeom prst="rect">
            <a:avLst/>
          </a:prstGeom>
          <a:noFill/>
        </p:spPr>
        <p:txBody>
          <a:bodyPr wrap="square" lIns="0" rIns="0" tIns="0" bIns="0" anchor="ctr">
            <a:spAutoFit/>
          </a:bodyPr>
          <a:lstStyle/>
          <a:p>
            <a:pPr algn="l">
              <a:lnSpc>
                <a:spcPct val="100000"/>
              </a:lnSpc>
            </a:pPr>
            <a:r>
              <a:rPr sz="1200" b="1" i="0">
                <a:solidFill>
                  <a:srgbClr val="000000"/>
                </a:solidFill>
                <a:latin typeface="Arial"/>
              </a:rPr>
              <a:t>Remote COGs</a:t>
            </a:r>
          </a:p>
        </p:txBody>
      </p:sp>
      <p:sp>
        <p:nvSpPr>
          <p:cNvPr id="28" name="TextBox 27"/>
          <p:cNvSpPr txBox="1"/>
          <p:nvPr/>
        </p:nvSpPr>
        <p:spPr>
          <a:xfrm>
            <a:off x="8151875" y="4023359"/>
            <a:ext cx="3031236" cy="402336"/>
          </a:xfrm>
          <a:prstGeom prst="rect">
            <a:avLst/>
          </a:prstGeom>
          <a:noFill/>
        </p:spPr>
        <p:txBody>
          <a:bodyPr wrap="square" lIns="0" rIns="0" tIns="0" bIns="0" anchor="ctr">
            <a:spAutoFit/>
          </a:bodyPr>
          <a:lstStyle/>
          <a:p>
            <a:pPr algn="l">
              <a:lnSpc>
                <a:spcPct val="95000"/>
              </a:lnSpc>
            </a:pPr>
            <a:r>
              <a:rPr sz="1050" b="0" i="0">
                <a:solidFill>
                  <a:srgbClr val="1A1A1A"/>
                </a:solidFill>
                <a:latin typeface="Arial"/>
              </a:rPr>
              <a:t>read live from the swisstopo STAC API</a:t>
            </a:r>
          </a:p>
        </p:txBody>
      </p:sp>
      <p:sp>
        <p:nvSpPr>
          <p:cNvPr id="29" name="Rectangle 28"/>
          <p:cNvSpPr/>
          <p:nvPr/>
        </p:nvSpPr>
        <p:spPr>
          <a:xfrm>
            <a:off x="731520" y="4617720"/>
            <a:ext cx="10725912" cy="96012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709160"/>
            <a:ext cx="10177272" cy="329184"/>
          </a:xfrm>
          <a:prstGeom prst="rect">
            <a:avLst/>
          </a:prstGeom>
          <a:noFill/>
        </p:spPr>
        <p:txBody>
          <a:bodyPr wrap="square" lIns="0" rIns="0" tIns="0" bIns="0" anchor="t">
            <a:spAutoFit/>
          </a:bodyPr>
          <a:lstStyle/>
          <a:p>
            <a:pPr algn="l">
              <a:lnSpc>
                <a:spcPct val="100000"/>
              </a:lnSpc>
            </a:pPr>
            <a:r>
              <a:rPr sz="1250" b="1" i="0">
                <a:solidFill>
                  <a:srgbClr val="000000"/>
                </a:solidFill>
                <a:latin typeface="Arial"/>
              </a:rPr>
              <a:t>Identical downstream contract  </a:t>
            </a:r>
            <a:r>
              <a:rPr sz="1250" b="0" i="0">
                <a:solidFill>
                  <a:srgbClr val="6F6F6F"/>
                </a:solidFill>
                <a:latin typeface="Arial"/>
              </a:rPr>
              <a:t>— applied after each route reaches physical surface reflectance</a:t>
            </a:r>
          </a:p>
        </p:txBody>
      </p:sp>
      <p:sp>
        <p:nvSpPr>
          <p:cNvPr id="31" name="TextBox 30"/>
          <p:cNvSpPr txBox="1"/>
          <p:nvPr/>
        </p:nvSpPr>
        <p:spPr>
          <a:xfrm>
            <a:off x="1005840" y="5074920"/>
            <a:ext cx="10177272" cy="411480"/>
          </a:xfrm>
          <a:prstGeom prst="rect">
            <a:avLst/>
          </a:prstGeom>
          <a:noFill/>
        </p:spPr>
        <p:txBody>
          <a:bodyPr wrap="square" lIns="0" rIns="0" tIns="0" bIns="0" anchor="t">
            <a:spAutoFit/>
          </a:bodyPr>
          <a:lstStyle/>
          <a:p>
            <a:pPr algn="l">
              <a:lnSpc>
                <a:spcPct val="98000"/>
              </a:lnSpc>
            </a:pPr>
            <a:r>
              <a:rPr sz="1150" b="0" i="0">
                <a:solidFill>
                  <a:srgbClr val="1A1A1A"/>
                </a:solidFill>
                <a:latin typeface="Arial"/>
              </a:rPr>
              <a:t>Switzerland national cutline  ·  July 2024  ·  EPSG:2056  ·  20 m  ·  17,423 × 11,034 px  ·  Float32 COG, nodata −9999  ·  NDVI, GNDVI, NDRE and NDWI from one shared set of equations</a:t>
            </a:r>
          </a:p>
        </p:txBody>
      </p:sp>
      <p:sp>
        <p:nvSpPr>
          <p:cNvPr id="32" name="TextBox 31"/>
          <p:cNvSpPr txBox="1"/>
          <p:nvPr/>
        </p:nvSpPr>
        <p:spPr>
          <a:xfrm>
            <a:off x="731520" y="6126480"/>
            <a:ext cx="10725912" cy="237744"/>
          </a:xfrm>
          <a:prstGeom prst="rect">
            <a:avLst/>
          </a:prstGeom>
          <a:noFill/>
        </p:spPr>
        <p:txBody>
          <a:bodyPr wrap="square" lIns="0" rIns="0" tIns="0" bIns="0" anchor="t">
            <a:spAutoFit/>
          </a:bodyPr>
          <a:lstStyle/>
          <a:p>
            <a:pPr algn="l">
              <a:lnSpc>
                <a:spcPct val="100000"/>
              </a:lnSpc>
            </a:pPr>
            <a:r>
              <a:rPr sz="1000" b="0" i="1">
                <a:solidFill>
                  <a:srgbClr val="6F6F6F"/>
                </a:solidFill>
                <a:latin typeface="Arial"/>
              </a:rPr>
              <a:t>A third route, native FORCE BOA/QAI, was run for July 2024 but excluded from this comparison — see the appendix.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Both routes give the same national picture</a:t>
            </a:r>
          </a:p>
        </p:txBody>
      </p:sp>
      <p:sp>
        <p:nvSpPr>
          <p:cNvPr id="3" name="TextBox 2"/>
          <p:cNvSpPr txBox="1"/>
          <p:nvPr/>
        </p:nvSpPr>
        <p:spPr>
          <a:xfrm>
            <a:off x="2176272" y="6519672"/>
            <a:ext cx="5404104" cy="219456"/>
          </a:xfrm>
          <a:prstGeom prst="rect">
            <a:avLst/>
          </a:prstGeom>
          <a:noFill/>
        </p:spPr>
        <p:txBody>
          <a:bodyPr wrap="square" lIns="0" rIns="0" tIns="0" bIns="0" anchor="ctr">
            <a:spAutoFit/>
          </a:bodyPr>
          <a:lstStyle/>
          <a:p>
            <a:pPr algn="l">
              <a:lnSpc>
                <a:spcPct val="100000"/>
              </a:lnSpc>
            </a:pPr>
            <a:r>
              <a:rPr sz="850" b="0" i="0">
                <a:solidFill>
                  <a:srgbClr val="000000"/>
                </a:solidFill>
                <a:latin typeface="Arial"/>
              </a:rPr>
              <a:t>ITES · UPSCALE · Working Package 4</a:t>
            </a:r>
          </a:p>
        </p:txBody>
      </p:sp>
      <p:sp>
        <p:nvSpPr>
          <p:cNvPr id="4" name="TextBox 3"/>
          <p:cNvSpPr txBox="1"/>
          <p:nvPr/>
        </p:nvSpPr>
        <p:spPr>
          <a:xfrm>
            <a:off x="9326880" y="6519672"/>
            <a:ext cx="1417320" cy="219456"/>
          </a:xfrm>
          <a:prstGeom prst="rect">
            <a:avLst/>
          </a:prstGeom>
          <a:noFill/>
        </p:spPr>
        <p:txBody>
          <a:bodyPr wrap="square" lIns="0" rIns="0" tIns="0" bIns="0" anchor="ctr">
            <a:spAutoFit/>
          </a:bodyPr>
          <a:lstStyle/>
          <a:p>
            <a:pPr algn="r">
              <a:lnSpc>
                <a:spcPct val="100000"/>
              </a:lnSpc>
            </a:pPr>
            <a:r>
              <a:rPr sz="850" b="0" i="0">
                <a:solidFill>
                  <a:srgbClr val="000000"/>
                </a:solidFill>
                <a:latin typeface="Arial"/>
              </a:rPr>
              <a:t>08.09.2026</a:t>
            </a:r>
          </a:p>
        </p:txBody>
      </p:sp>
      <p:sp>
        <p:nvSpPr>
          <p:cNvPr id="5" name="TextBox 4"/>
          <p:cNvSpPr txBox="1"/>
          <p:nvPr/>
        </p:nvSpPr>
        <p:spPr>
          <a:xfrm>
            <a:off x="11018520" y="6519672"/>
            <a:ext cx="411480" cy="219456"/>
          </a:xfrm>
          <a:prstGeom prst="rect">
            <a:avLst/>
          </a:prstGeom>
          <a:noFill/>
        </p:spPr>
        <p:txBody>
          <a:bodyPr wrap="square" lIns="0" rIns="0" tIns="0" bIns="0" anchor="ctr">
            <a:spAutoFit/>
          </a:bodyPr>
          <a:lstStyle/>
          <a:p>
            <a:pPr algn="ctr">
              <a:lnSpc>
                <a:spcPct val="100000"/>
              </a:lnSpc>
            </a:pPr>
            <a:r>
              <a:rPr sz="850" b="0" i="0">
                <a:solidFill>
                  <a:srgbClr val="000000"/>
                </a:solidFill>
                <a:latin typeface="Arial"/>
              </a:rPr>
              <a:t>3</a:t>
            </a:r>
          </a:p>
        </p:txBody>
      </p:sp>
      <p:pic>
        <p:nvPicPr>
          <p:cNvPr id="6" name="Picture 5" descr="atlas.png"/>
          <p:cNvPicPr>
            <a:picLocks noChangeAspect="1"/>
          </p:cNvPicPr>
          <p:nvPr/>
        </p:nvPicPr>
        <p:blipFill>
          <a:blip r:embed="rId2"/>
          <a:stretch>
            <a:fillRect/>
          </a:stretch>
        </p:blipFill>
        <p:spPr>
          <a:xfrm>
            <a:off x="731520" y="1600200"/>
            <a:ext cx="7086600" cy="4012105"/>
          </a:xfrm>
          <a:prstGeom prst="rect">
            <a:avLst/>
          </a:prstGeom>
        </p:spPr>
      </p:pic>
      <p:sp>
        <p:nvSpPr>
          <p:cNvPr id="7" name="Rectangle 6"/>
          <p:cNvSpPr/>
          <p:nvPr/>
        </p:nvSpPr>
        <p:spPr>
          <a:xfrm>
            <a:off x="8202168" y="1691640"/>
            <a:ext cx="3255264" cy="129844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Check-215CAF.png"/>
          <p:cNvPicPr>
            <a:picLocks noChangeAspect="1"/>
          </p:cNvPicPr>
          <p:nvPr/>
        </p:nvPicPr>
        <p:blipFill>
          <a:blip r:embed="rId3"/>
          <a:stretch>
            <a:fillRect/>
          </a:stretch>
        </p:blipFill>
        <p:spPr>
          <a:xfrm>
            <a:off x="8421624" y="1911095"/>
            <a:ext cx="310896" cy="310896"/>
          </a:xfrm>
          <a:prstGeom prst="rect">
            <a:avLst/>
          </a:prstGeom>
        </p:spPr>
      </p:pic>
      <p:sp>
        <p:nvSpPr>
          <p:cNvPr id="9" name="TextBox 8"/>
          <p:cNvSpPr txBox="1"/>
          <p:nvPr/>
        </p:nvSpPr>
        <p:spPr>
          <a:xfrm>
            <a:off x="8823960" y="1892808"/>
            <a:ext cx="2432304" cy="329184"/>
          </a:xfrm>
          <a:prstGeom prst="rect">
            <a:avLst/>
          </a:prstGeom>
          <a:noFill/>
        </p:spPr>
        <p:txBody>
          <a:bodyPr wrap="square" lIns="0" rIns="0" tIns="0" bIns="0" anchor="ctr">
            <a:spAutoFit/>
          </a:bodyPr>
          <a:lstStyle/>
          <a:p>
            <a:pPr algn="l">
              <a:lnSpc>
                <a:spcPct val="100000"/>
              </a:lnSpc>
            </a:pPr>
            <a:r>
              <a:rPr sz="1250" b="1" i="0">
                <a:solidFill>
                  <a:srgbClr val="000000"/>
                </a:solidFill>
                <a:latin typeface="Arial"/>
              </a:rPr>
              <a:t>Same spatial pattern</a:t>
            </a:r>
          </a:p>
        </p:txBody>
      </p:sp>
      <p:sp>
        <p:nvSpPr>
          <p:cNvPr id="10" name="TextBox 9"/>
          <p:cNvSpPr txBox="1"/>
          <p:nvPr/>
        </p:nvSpPr>
        <p:spPr>
          <a:xfrm>
            <a:off x="8421624" y="2313432"/>
            <a:ext cx="2816352" cy="566928"/>
          </a:xfrm>
          <a:prstGeom prst="rect">
            <a:avLst/>
          </a:prstGeom>
          <a:noFill/>
        </p:spPr>
        <p:txBody>
          <a:bodyPr wrap="square" lIns="0" rIns="0" tIns="0" bIns="0" anchor="t">
            <a:spAutoFit/>
          </a:bodyPr>
          <a:lstStyle/>
          <a:p>
            <a:pPr algn="l">
              <a:lnSpc>
                <a:spcPct val="95000"/>
              </a:lnSpc>
            </a:pPr>
            <a:r>
              <a:rPr sz="1050" b="0" i="0">
                <a:solidFill>
                  <a:srgbClr val="1A1A1A"/>
                </a:solidFill>
                <a:latin typeface="Arial"/>
              </a:rPr>
              <a:t>Strong positive vegetation signal across the lowlands and forested regions, lower values in the high Alps.</a:t>
            </a:r>
          </a:p>
        </p:txBody>
      </p:sp>
      <p:sp>
        <p:nvSpPr>
          <p:cNvPr id="11" name="Rectangle 10"/>
          <p:cNvSpPr/>
          <p:nvPr/>
        </p:nvSpPr>
        <p:spPr>
          <a:xfrm>
            <a:off x="8202168" y="3154680"/>
            <a:ext cx="3255264" cy="129844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aCheck-215CAF.png"/>
          <p:cNvPicPr>
            <a:picLocks noChangeAspect="1"/>
          </p:cNvPicPr>
          <p:nvPr/>
        </p:nvPicPr>
        <p:blipFill>
          <a:blip r:embed="rId3"/>
          <a:stretch>
            <a:fillRect/>
          </a:stretch>
        </p:blipFill>
        <p:spPr>
          <a:xfrm>
            <a:off x="8421624" y="3374136"/>
            <a:ext cx="310896" cy="310896"/>
          </a:xfrm>
          <a:prstGeom prst="rect">
            <a:avLst/>
          </a:prstGeom>
        </p:spPr>
      </p:pic>
      <p:sp>
        <p:nvSpPr>
          <p:cNvPr id="13" name="TextBox 12"/>
          <p:cNvSpPr txBox="1"/>
          <p:nvPr/>
        </p:nvSpPr>
        <p:spPr>
          <a:xfrm>
            <a:off x="8823960" y="3355848"/>
            <a:ext cx="2432304" cy="329184"/>
          </a:xfrm>
          <a:prstGeom prst="rect">
            <a:avLst/>
          </a:prstGeom>
          <a:noFill/>
        </p:spPr>
        <p:txBody>
          <a:bodyPr wrap="square" lIns="0" rIns="0" tIns="0" bIns="0" anchor="ctr">
            <a:spAutoFit/>
          </a:bodyPr>
          <a:lstStyle/>
          <a:p>
            <a:pPr algn="l">
              <a:lnSpc>
                <a:spcPct val="100000"/>
              </a:lnSpc>
            </a:pPr>
            <a:r>
              <a:rPr sz="1250" b="1" i="0">
                <a:solidFill>
                  <a:srgbClr val="000000"/>
                </a:solidFill>
                <a:latin typeface="Arial"/>
              </a:rPr>
              <a:t>Water clearly separated</a:t>
            </a:r>
          </a:p>
        </p:txBody>
      </p:sp>
      <p:sp>
        <p:nvSpPr>
          <p:cNvPr id="14" name="TextBox 13"/>
          <p:cNvSpPr txBox="1"/>
          <p:nvPr/>
        </p:nvSpPr>
        <p:spPr>
          <a:xfrm>
            <a:off x="8421624" y="3776472"/>
            <a:ext cx="2816352" cy="566928"/>
          </a:xfrm>
          <a:prstGeom prst="rect">
            <a:avLst/>
          </a:prstGeom>
          <a:noFill/>
        </p:spPr>
        <p:txBody>
          <a:bodyPr wrap="square" lIns="0" rIns="0" tIns="0" bIns="0" anchor="t">
            <a:spAutoFit/>
          </a:bodyPr>
          <a:lstStyle/>
          <a:p>
            <a:pPr algn="l">
              <a:lnSpc>
                <a:spcPct val="95000"/>
              </a:lnSpc>
            </a:pPr>
            <a:r>
              <a:rPr sz="1050" b="0" i="0">
                <a:solidFill>
                  <a:srgbClr val="1A1A1A"/>
                </a:solidFill>
                <a:latin typeface="Arial"/>
              </a:rPr>
              <a:t>Lakes and rivers sit at the negative end of the NDVI, GNDVI and NDRE scales in both products.</a:t>
            </a:r>
          </a:p>
        </p:txBody>
      </p:sp>
      <p:sp>
        <p:nvSpPr>
          <p:cNvPr id="15" name="Rectangle 14"/>
          <p:cNvSpPr/>
          <p:nvPr/>
        </p:nvSpPr>
        <p:spPr>
          <a:xfrm>
            <a:off x="8202168" y="4617720"/>
            <a:ext cx="3255264" cy="1298448"/>
          </a:xfrm>
          <a:prstGeom prst="rect">
            <a:avLst/>
          </a:prstGeom>
          <a:solidFill>
            <a:srgbClr val="F8E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ExclamationCircle-B7352D.png"/>
          <p:cNvPicPr>
            <a:picLocks noChangeAspect="1"/>
          </p:cNvPicPr>
          <p:nvPr/>
        </p:nvPicPr>
        <p:blipFill>
          <a:blip r:embed="rId4"/>
          <a:stretch>
            <a:fillRect/>
          </a:stretch>
        </p:blipFill>
        <p:spPr>
          <a:xfrm>
            <a:off x="8421624" y="4837176"/>
            <a:ext cx="310896" cy="310896"/>
          </a:xfrm>
          <a:prstGeom prst="rect">
            <a:avLst/>
          </a:prstGeom>
        </p:spPr>
      </p:pic>
      <p:sp>
        <p:nvSpPr>
          <p:cNvPr id="17" name="TextBox 16"/>
          <p:cNvSpPr txBox="1"/>
          <p:nvPr/>
        </p:nvSpPr>
        <p:spPr>
          <a:xfrm>
            <a:off x="8823960" y="4818888"/>
            <a:ext cx="2432304" cy="329184"/>
          </a:xfrm>
          <a:prstGeom prst="rect">
            <a:avLst/>
          </a:prstGeom>
          <a:noFill/>
        </p:spPr>
        <p:txBody>
          <a:bodyPr wrap="square" lIns="0" rIns="0" tIns="0" bIns="0" anchor="ctr">
            <a:spAutoFit/>
          </a:bodyPr>
          <a:lstStyle/>
          <a:p>
            <a:pPr algn="l">
              <a:lnSpc>
                <a:spcPct val="100000"/>
              </a:lnSpc>
            </a:pPr>
            <a:r>
              <a:rPr sz="1250" b="1" i="0">
                <a:solidFill>
                  <a:srgbClr val="000000"/>
                </a:solidFill>
                <a:latin typeface="Arial"/>
              </a:rPr>
              <a:t>Gaps differ</a:t>
            </a:r>
          </a:p>
        </p:txBody>
      </p:sp>
      <p:sp>
        <p:nvSpPr>
          <p:cNvPr id="18" name="TextBox 17"/>
          <p:cNvSpPr txBox="1"/>
          <p:nvPr/>
        </p:nvSpPr>
        <p:spPr>
          <a:xfrm>
            <a:off x="8421624" y="5239512"/>
            <a:ext cx="2816352" cy="566928"/>
          </a:xfrm>
          <a:prstGeom prst="rect">
            <a:avLst/>
          </a:prstGeom>
          <a:noFill/>
        </p:spPr>
        <p:txBody>
          <a:bodyPr wrap="square" lIns="0" rIns="0" tIns="0" bIns="0" anchor="t">
            <a:spAutoFit/>
          </a:bodyPr>
          <a:lstStyle/>
          <a:p>
            <a:pPr algn="l">
              <a:lnSpc>
                <a:spcPct val="95000"/>
              </a:lnSpc>
            </a:pPr>
            <a:r>
              <a:rPr sz="1050" b="0" i="0">
                <a:solidFill>
                  <a:srgbClr val="1A1A1A"/>
                </a:solidFill>
                <a:latin typeface="Arial"/>
              </a:rPr>
              <a:t>Copernicus shows one rectangular gap in the west/northwest; swissEO's gaps are more fragmented.</a:t>
            </a:r>
          </a:p>
        </p:txBody>
      </p:sp>
      <p:sp>
        <p:nvSpPr>
          <p:cNvPr id="19" name="TextBox 18"/>
          <p:cNvSpPr txBox="1"/>
          <p:nvPr/>
        </p:nvSpPr>
        <p:spPr>
          <a:xfrm>
            <a:off x="8202168" y="6126479"/>
            <a:ext cx="3255264" cy="548640"/>
          </a:xfrm>
          <a:prstGeom prst="rect">
            <a:avLst/>
          </a:prstGeom>
          <a:noFill/>
        </p:spPr>
        <p:txBody>
          <a:bodyPr wrap="square" lIns="0" rIns="0" tIns="0" bIns="0" anchor="t">
            <a:spAutoFit/>
          </a:bodyPr>
          <a:lstStyle/>
          <a:p>
            <a:pPr algn="l">
              <a:lnSpc>
                <a:spcPct val="95000"/>
              </a:lnSpc>
            </a:pPr>
            <a:r>
              <a:rPr sz="1000" b="0" i="1">
                <a:solidFill>
                  <a:srgbClr val="6F6F6F"/>
                </a:solidFill>
                <a:latin typeface="Arial"/>
              </a:rPr>
              <a:t>All eight panels share the Swiss cutline, the 20 m grid and one fixed −1 to +1 colour scale.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they differ is coverage, not vegetation</a:t>
            </a:r>
          </a:p>
        </p:txBody>
      </p:sp>
      <p:sp>
        <p:nvSpPr>
          <p:cNvPr id="3" name="TextBox 2"/>
          <p:cNvSpPr txBox="1"/>
          <p:nvPr/>
        </p:nvSpPr>
        <p:spPr>
          <a:xfrm>
            <a:off x="2176272" y="6519672"/>
            <a:ext cx="5404104" cy="219456"/>
          </a:xfrm>
          <a:prstGeom prst="rect">
            <a:avLst/>
          </a:prstGeom>
          <a:noFill/>
        </p:spPr>
        <p:txBody>
          <a:bodyPr wrap="square" lIns="0" rIns="0" tIns="0" bIns="0" anchor="ctr">
            <a:spAutoFit/>
          </a:bodyPr>
          <a:lstStyle/>
          <a:p>
            <a:pPr algn="l">
              <a:lnSpc>
                <a:spcPct val="100000"/>
              </a:lnSpc>
            </a:pPr>
            <a:r>
              <a:rPr sz="850" b="0" i="0">
                <a:solidFill>
                  <a:srgbClr val="000000"/>
                </a:solidFill>
                <a:latin typeface="Arial"/>
              </a:rPr>
              <a:t>ITES · UPSCALE · Working Package 4</a:t>
            </a:r>
          </a:p>
        </p:txBody>
      </p:sp>
      <p:sp>
        <p:nvSpPr>
          <p:cNvPr id="4" name="TextBox 3"/>
          <p:cNvSpPr txBox="1"/>
          <p:nvPr/>
        </p:nvSpPr>
        <p:spPr>
          <a:xfrm>
            <a:off x="9326880" y="6519672"/>
            <a:ext cx="1417320" cy="219456"/>
          </a:xfrm>
          <a:prstGeom prst="rect">
            <a:avLst/>
          </a:prstGeom>
          <a:noFill/>
        </p:spPr>
        <p:txBody>
          <a:bodyPr wrap="square" lIns="0" rIns="0" tIns="0" bIns="0" anchor="ctr">
            <a:spAutoFit/>
          </a:bodyPr>
          <a:lstStyle/>
          <a:p>
            <a:pPr algn="r">
              <a:lnSpc>
                <a:spcPct val="100000"/>
              </a:lnSpc>
            </a:pPr>
            <a:r>
              <a:rPr sz="850" b="0" i="0">
                <a:solidFill>
                  <a:srgbClr val="000000"/>
                </a:solidFill>
                <a:latin typeface="Arial"/>
              </a:rPr>
              <a:t>08.09.2026</a:t>
            </a:r>
          </a:p>
        </p:txBody>
      </p:sp>
      <p:sp>
        <p:nvSpPr>
          <p:cNvPr id="5" name="TextBox 4"/>
          <p:cNvSpPr txBox="1"/>
          <p:nvPr/>
        </p:nvSpPr>
        <p:spPr>
          <a:xfrm>
            <a:off x="11018520" y="6519672"/>
            <a:ext cx="411480" cy="219456"/>
          </a:xfrm>
          <a:prstGeom prst="rect">
            <a:avLst/>
          </a:prstGeom>
          <a:noFill/>
        </p:spPr>
        <p:txBody>
          <a:bodyPr wrap="square" lIns="0" rIns="0" tIns="0" bIns="0" anchor="ctr">
            <a:spAutoFit/>
          </a:bodyPr>
          <a:lstStyle/>
          <a:p>
            <a:pPr algn="ctr">
              <a:lnSpc>
                <a:spcPct val="100000"/>
              </a:lnSpc>
            </a:pPr>
            <a:r>
              <a:rPr sz="850" b="0" i="0">
                <a:solidFill>
                  <a:srgbClr val="000000"/>
                </a:solidFill>
                <a:latin typeface="Arial"/>
              </a:rPr>
              <a:t>4</a:t>
            </a:r>
          </a:p>
        </p:txBody>
      </p:sp>
      <p:sp>
        <p:nvSpPr>
          <p:cNvPr id="6" name="TextBox 5"/>
          <p:cNvSpPr txBox="1"/>
          <p:nvPr/>
        </p:nvSpPr>
        <p:spPr>
          <a:xfrm>
            <a:off x="731520" y="1371600"/>
            <a:ext cx="10725912" cy="237744"/>
          </a:xfrm>
          <a:prstGeom prst="rect">
            <a:avLst/>
          </a:prstGeom>
          <a:noFill/>
        </p:spPr>
        <p:txBody>
          <a:bodyPr wrap="square" lIns="0" rIns="0" tIns="0" bIns="0" anchor="t">
            <a:spAutoFit/>
          </a:bodyPr>
          <a:lstStyle/>
          <a:p>
            <a:pPr algn="l">
              <a:lnSpc>
                <a:spcPct val="100000"/>
              </a:lnSpc>
            </a:pPr>
            <a:r>
              <a:rPr sz="1150" b="1" i="0" spc="150">
                <a:solidFill>
                  <a:srgbClr val="215CAF"/>
                </a:solidFill>
                <a:latin typeface="Arial"/>
              </a:rPr>
              <a:t>NDVI, JULY 2024 — SAME SCALE, SAME CUTLINE</a:t>
            </a:r>
          </a:p>
        </p:txBody>
      </p:sp>
      <p:sp>
        <p:nvSpPr>
          <p:cNvPr id="7" name="Rectangle 6"/>
          <p:cNvSpPr/>
          <p:nvPr/>
        </p:nvSpPr>
        <p:spPr>
          <a:xfrm>
            <a:off x="1499616" y="1920240"/>
            <a:ext cx="4434840" cy="310896"/>
          </a:xfrm>
          <a:prstGeom prst="rect">
            <a:avLst/>
          </a:prstGeom>
          <a:solidFill>
            <a:srgbClr val="215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99616" y="1920240"/>
            <a:ext cx="4434840" cy="310896"/>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Copernicus Sentinel-2 L2A</a:t>
            </a:r>
          </a:p>
        </p:txBody>
      </p:sp>
      <p:pic>
        <p:nvPicPr>
          <p:cNvPr id="9" name="Picture 8" descr="cop_ndvi.png"/>
          <p:cNvPicPr>
            <a:picLocks noChangeAspect="1"/>
          </p:cNvPicPr>
          <p:nvPr/>
        </p:nvPicPr>
        <p:blipFill>
          <a:blip r:embed="rId2"/>
          <a:stretch>
            <a:fillRect/>
          </a:stretch>
        </p:blipFill>
        <p:spPr>
          <a:xfrm>
            <a:off x="1499616" y="2286000"/>
            <a:ext cx="4434840" cy="2807808"/>
          </a:xfrm>
          <a:prstGeom prst="rect">
            <a:avLst/>
          </a:prstGeom>
        </p:spPr>
      </p:pic>
      <p:sp>
        <p:nvSpPr>
          <p:cNvPr id="10" name="Rectangle 9"/>
          <p:cNvSpPr/>
          <p:nvPr/>
        </p:nvSpPr>
        <p:spPr>
          <a:xfrm>
            <a:off x="6254496" y="1920240"/>
            <a:ext cx="4434840"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54496" y="1920240"/>
            <a:ext cx="4434840" cy="310896"/>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swissEO S2-SR</a:t>
            </a:r>
          </a:p>
        </p:txBody>
      </p:sp>
      <p:pic>
        <p:nvPicPr>
          <p:cNvPr id="12" name="Picture 11" descr="seo_ndvi.png"/>
          <p:cNvPicPr>
            <a:picLocks noChangeAspect="1"/>
          </p:cNvPicPr>
          <p:nvPr/>
        </p:nvPicPr>
        <p:blipFill>
          <a:blip r:embed="rId3"/>
          <a:stretch>
            <a:fillRect/>
          </a:stretch>
        </p:blipFill>
        <p:spPr>
          <a:xfrm>
            <a:off x="6254496" y="2286000"/>
            <a:ext cx="4434840" cy="2807808"/>
          </a:xfrm>
          <a:prstGeom prst="rect">
            <a:avLst/>
          </a:prstGeom>
        </p:spPr>
      </p:pic>
      <p:sp>
        <p:nvSpPr>
          <p:cNvPr id="13" name="Rectangle 12"/>
          <p:cNvSpPr/>
          <p:nvPr/>
        </p:nvSpPr>
        <p:spPr>
          <a:xfrm>
            <a:off x="731520" y="5258400"/>
            <a:ext cx="10725912" cy="932688"/>
          </a:xfrm>
          <a:prstGeom prst="rect">
            <a:avLst/>
          </a:prstGeom>
          <a:solidFill>
            <a:srgbClr val="F8E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aExclamationCircle-B7352D.png"/>
          <p:cNvPicPr>
            <a:picLocks noChangeAspect="1"/>
          </p:cNvPicPr>
          <p:nvPr/>
        </p:nvPicPr>
        <p:blipFill>
          <a:blip r:embed="rId4"/>
          <a:stretch>
            <a:fillRect/>
          </a:stretch>
        </p:blipFill>
        <p:spPr>
          <a:xfrm>
            <a:off x="1005840" y="5532720"/>
            <a:ext cx="365760" cy="365760"/>
          </a:xfrm>
          <a:prstGeom prst="rect">
            <a:avLst/>
          </a:prstGeom>
        </p:spPr>
      </p:pic>
      <p:sp>
        <p:nvSpPr>
          <p:cNvPr id="15" name="TextBox 14"/>
          <p:cNvSpPr txBox="1"/>
          <p:nvPr/>
        </p:nvSpPr>
        <p:spPr>
          <a:xfrm>
            <a:off x="1572768" y="5368128"/>
            <a:ext cx="9628632" cy="310896"/>
          </a:xfrm>
          <a:prstGeom prst="rect">
            <a:avLst/>
          </a:prstGeom>
          <a:noFill/>
        </p:spPr>
        <p:txBody>
          <a:bodyPr wrap="square" lIns="0" rIns="0" tIns="0" bIns="0" anchor="t">
            <a:spAutoFit/>
          </a:bodyPr>
          <a:lstStyle/>
          <a:p>
            <a:pPr algn="l">
              <a:lnSpc>
                <a:spcPct val="100000"/>
              </a:lnSpc>
            </a:pPr>
            <a:r>
              <a:rPr sz="1300" b="1" i="0">
                <a:solidFill>
                  <a:srgbClr val="000000"/>
                </a:solidFill>
                <a:latin typeface="Arial"/>
              </a:rPr>
              <a:t>Read the white areas as masking, not as vegetation change</a:t>
            </a:r>
          </a:p>
        </p:txBody>
      </p:sp>
      <p:sp>
        <p:nvSpPr>
          <p:cNvPr id="16" name="TextBox 15"/>
          <p:cNvSpPr txBox="1"/>
          <p:nvPr/>
        </p:nvSpPr>
        <p:spPr>
          <a:xfrm>
            <a:off x="1572768" y="5697312"/>
            <a:ext cx="9582912" cy="420624"/>
          </a:xfrm>
          <a:prstGeom prst="rect">
            <a:avLst/>
          </a:prstGeom>
          <a:noFill/>
        </p:spPr>
        <p:txBody>
          <a:bodyPr wrap="square" lIns="0" rIns="0" tIns="0" bIns="0" anchor="t">
            <a:spAutoFit/>
          </a:bodyPr>
          <a:lstStyle/>
          <a:p>
            <a:pPr algn="l">
              <a:lnSpc>
                <a:spcPct val="95000"/>
              </a:lnSpc>
            </a:pPr>
            <a:r>
              <a:rPr sz="1100" b="0" i="0">
                <a:solidFill>
                  <a:srgbClr val="1A1A1A"/>
                </a:solidFill>
                <a:latin typeface="Arial"/>
              </a:rPr>
              <a:t>Cloud, cloud shadow, terrain shadow, snow, nodata and source-orbit coverage all remove pixels. The two routes use different quality masks, so their gaps are expected to differ. A formal cross-source coverage percentage was not computed for this lightweight atlas.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each route cost to run</a:t>
            </a:r>
          </a:p>
        </p:txBody>
      </p:sp>
      <p:sp>
        <p:nvSpPr>
          <p:cNvPr id="3" name="TextBox 2"/>
          <p:cNvSpPr txBox="1"/>
          <p:nvPr/>
        </p:nvSpPr>
        <p:spPr>
          <a:xfrm>
            <a:off x="2176272" y="6519672"/>
            <a:ext cx="5404104" cy="219456"/>
          </a:xfrm>
          <a:prstGeom prst="rect">
            <a:avLst/>
          </a:prstGeom>
          <a:noFill/>
        </p:spPr>
        <p:txBody>
          <a:bodyPr wrap="square" lIns="0" rIns="0" tIns="0" bIns="0" anchor="ctr">
            <a:spAutoFit/>
          </a:bodyPr>
          <a:lstStyle/>
          <a:p>
            <a:pPr algn="l">
              <a:lnSpc>
                <a:spcPct val="100000"/>
              </a:lnSpc>
            </a:pPr>
            <a:r>
              <a:rPr sz="850" b="0" i="0">
                <a:solidFill>
                  <a:srgbClr val="000000"/>
                </a:solidFill>
                <a:latin typeface="Arial"/>
              </a:rPr>
              <a:t>ITES · UPSCALE · Working Package 4</a:t>
            </a:r>
          </a:p>
        </p:txBody>
      </p:sp>
      <p:sp>
        <p:nvSpPr>
          <p:cNvPr id="4" name="TextBox 3"/>
          <p:cNvSpPr txBox="1"/>
          <p:nvPr/>
        </p:nvSpPr>
        <p:spPr>
          <a:xfrm>
            <a:off x="9326880" y="6519672"/>
            <a:ext cx="1417320" cy="219456"/>
          </a:xfrm>
          <a:prstGeom prst="rect">
            <a:avLst/>
          </a:prstGeom>
          <a:noFill/>
        </p:spPr>
        <p:txBody>
          <a:bodyPr wrap="square" lIns="0" rIns="0" tIns="0" bIns="0" anchor="ctr">
            <a:spAutoFit/>
          </a:bodyPr>
          <a:lstStyle/>
          <a:p>
            <a:pPr algn="r">
              <a:lnSpc>
                <a:spcPct val="100000"/>
              </a:lnSpc>
            </a:pPr>
            <a:r>
              <a:rPr sz="850" b="0" i="0">
                <a:solidFill>
                  <a:srgbClr val="000000"/>
                </a:solidFill>
                <a:latin typeface="Arial"/>
              </a:rPr>
              <a:t>08.09.2026</a:t>
            </a:r>
          </a:p>
        </p:txBody>
      </p:sp>
      <p:sp>
        <p:nvSpPr>
          <p:cNvPr id="5" name="TextBox 4"/>
          <p:cNvSpPr txBox="1"/>
          <p:nvPr/>
        </p:nvSpPr>
        <p:spPr>
          <a:xfrm>
            <a:off x="11018520" y="6519672"/>
            <a:ext cx="411480" cy="219456"/>
          </a:xfrm>
          <a:prstGeom prst="rect">
            <a:avLst/>
          </a:prstGeom>
          <a:noFill/>
        </p:spPr>
        <p:txBody>
          <a:bodyPr wrap="square" lIns="0" rIns="0" tIns="0" bIns="0" anchor="ctr">
            <a:spAutoFit/>
          </a:bodyPr>
          <a:lstStyle/>
          <a:p>
            <a:pPr algn="ctr">
              <a:lnSpc>
                <a:spcPct val="100000"/>
              </a:lnSpc>
            </a:pPr>
            <a:r>
              <a:rPr sz="850" b="0" i="0">
                <a:solidFill>
                  <a:srgbClr val="000000"/>
                </a:solidFill>
                <a:latin typeface="Arial"/>
              </a:rPr>
              <a:t>5</a:t>
            </a:r>
          </a:p>
        </p:txBody>
      </p:sp>
      <p:sp>
        <p:nvSpPr>
          <p:cNvPr id="6" name="TextBox 5"/>
          <p:cNvSpPr txBox="1"/>
          <p:nvPr/>
        </p:nvSpPr>
        <p:spPr>
          <a:xfrm>
            <a:off x="731520" y="1371600"/>
            <a:ext cx="10725912" cy="237744"/>
          </a:xfrm>
          <a:prstGeom prst="rect">
            <a:avLst/>
          </a:prstGeom>
          <a:noFill/>
        </p:spPr>
        <p:txBody>
          <a:bodyPr wrap="square" lIns="0" rIns="0" tIns="0" bIns="0" anchor="t">
            <a:spAutoFit/>
          </a:bodyPr>
          <a:lstStyle/>
          <a:p>
            <a:pPr algn="l">
              <a:lnSpc>
                <a:spcPct val="100000"/>
              </a:lnSpc>
            </a:pPr>
            <a:r>
              <a:rPr sz="1150" b="1" i="0" spc="150">
                <a:solidFill>
                  <a:srgbClr val="215CAF"/>
                </a:solidFill>
                <a:latin typeface="Arial"/>
              </a:rPr>
              <a:t>MEASURED ON THE SAME MACHINE AND MONTH</a:t>
            </a:r>
          </a:p>
        </p:txBody>
      </p:sp>
      <p:graphicFrame>
        <p:nvGraphicFramePr>
          <p:cNvPr id="7" name="Table 6"/>
          <p:cNvGraphicFramePr>
            <a:graphicFrameLocks noGrp="1"/>
          </p:cNvGraphicFramePr>
          <p:nvPr/>
        </p:nvGraphicFramePr>
        <p:xfrm>
          <a:off x="731520" y="1874519"/>
          <a:ext cx="5989320" cy="2322576"/>
        </p:xfrm>
        <a:graphic>
          <a:graphicData uri="http://schemas.openxmlformats.org/drawingml/2006/table">
            <a:tbl>
              <a:tblPr>
                <a:tableStyleId>{5C22544A-7EE6-4342-B048-85BDC9FD1C3A}</a:tableStyleId>
              </a:tblPr>
              <a:tblGrid>
                <a:gridCol w="2148840"/>
                <a:gridCol w="1920240"/>
                <a:gridCol w="1920240"/>
              </a:tblGrid>
              <a:tr h="384048">
                <a:tc>
                  <a:txBody>
                    <a:bodyPr wrap="square"/>
                    <a:lstStyle/>
                    <a:p>
                      <a:pPr algn="l"/>
                      <a:r>
                        <a:rPr sz="1150" b="1">
                          <a:solidFill>
                            <a:srgbClr val="FFFFFF"/>
                          </a:solidFill>
                          <a:latin typeface="Arial"/>
                        </a:rPr>
                        <a:t>Stage</a:t>
                      </a:r>
                    </a:p>
                  </a:txBody>
                  <a:tcPr marL="109728" marR="91440" marT="27432" marB="27432" anchor="ctr">
                    <a:solidFill>
                      <a:srgbClr val="000000"/>
                    </a:solidFill>
                  </a:tcPr>
                </a:tc>
                <a:tc>
                  <a:txBody>
                    <a:bodyPr wrap="square"/>
                    <a:lstStyle/>
                    <a:p>
                      <a:pPr algn="r"/>
                      <a:r>
                        <a:rPr sz="1150" b="1">
                          <a:solidFill>
                            <a:srgbClr val="FFFFFF"/>
                          </a:solidFill>
                          <a:latin typeface="Arial"/>
                        </a:rPr>
                        <a:t>Copernicus L2A</a:t>
                      </a:r>
                    </a:p>
                  </a:txBody>
                  <a:tcPr marL="109728" marR="91440" marT="27432" marB="27432" anchor="ctr">
                    <a:solidFill>
                      <a:srgbClr val="000000"/>
                    </a:solidFill>
                  </a:tcPr>
                </a:tc>
                <a:tc>
                  <a:txBody>
                    <a:bodyPr wrap="square"/>
                    <a:lstStyle/>
                    <a:p>
                      <a:pPr algn="r"/>
                      <a:r>
                        <a:rPr sz="1150" b="1">
                          <a:solidFill>
                            <a:srgbClr val="FFFFFF"/>
                          </a:solidFill>
                          <a:latin typeface="Arial"/>
                        </a:rPr>
                        <a:t>swissEO S2-SR</a:t>
                      </a:r>
                    </a:p>
                  </a:txBody>
                  <a:tcPr marL="109728" marR="91440" marT="27432" marB="27432" anchor="ctr">
                    <a:solidFill>
                      <a:srgbClr val="000000"/>
                    </a:solidFill>
                  </a:tcPr>
                </a:tc>
              </a:tr>
              <a:tr h="484632">
                <a:tc>
                  <a:txBody>
                    <a:bodyPr wrap="square"/>
                    <a:lstStyle/>
                    <a:p>
                      <a:pPr algn="l"/>
                      <a:r>
                        <a:rPr sz="1100" b="0">
                          <a:solidFill>
                            <a:srgbClr val="000000"/>
                          </a:solidFill>
                          <a:latin typeface="Arial"/>
                        </a:rPr>
                        <a:t>Input units</a:t>
                      </a:r>
                    </a:p>
                  </a:txBody>
                  <a:tcPr marL="109728" marR="91440" marT="27432" marB="27432" anchor="ctr">
                    <a:solidFill>
                      <a:srgbClr val="FFFFFF"/>
                    </a:solidFill>
                  </a:tcPr>
                </a:tc>
                <a:tc>
                  <a:txBody>
                    <a:bodyPr wrap="square"/>
                    <a:lstStyle/>
                    <a:p>
                      <a:pPr algn="r"/>
                      <a:r>
                        <a:rPr sz="1100" b="0">
                          <a:solidFill>
                            <a:srgbClr val="1A1A1A"/>
                          </a:solidFill>
                          <a:latin typeface="Arial"/>
                        </a:rPr>
                        <a:t>65 scenes</a:t>
                      </a:r>
                    </a:p>
                  </a:txBody>
                  <a:tcPr marL="109728" marR="91440" marT="27432" marB="27432" anchor="ctr">
                    <a:solidFill>
                      <a:srgbClr val="FFFFFF"/>
                    </a:solidFill>
                  </a:tcPr>
                </a:tc>
                <a:tc>
                  <a:txBody>
                    <a:bodyPr wrap="square"/>
                    <a:lstStyle/>
                    <a:p>
                      <a:pPr algn="r"/>
                      <a:r>
                        <a:rPr sz="1100" b="0">
                          <a:solidFill>
                            <a:srgbClr val="1A1A1A"/>
                          </a:solidFill>
                          <a:latin typeface="Arial"/>
                        </a:rPr>
                        <a:t>16 orbit mosaics</a:t>
                      </a:r>
                    </a:p>
                  </a:txBody>
                  <a:tcPr marL="109728" marR="91440" marT="27432" marB="27432" anchor="ctr">
                    <a:solidFill>
                      <a:srgbClr val="FFFFFF"/>
                    </a:solidFill>
                  </a:tcPr>
                </a:tc>
              </a:tr>
              <a:tr h="484632">
                <a:tc>
                  <a:txBody>
                    <a:bodyPr wrap="square"/>
                    <a:lstStyle/>
                    <a:p>
                      <a:pPr algn="l"/>
                      <a:r>
                        <a:rPr sz="1100" b="0">
                          <a:solidFill>
                            <a:srgbClr val="000000"/>
                          </a:solidFill>
                          <a:latin typeface="Arial"/>
                        </a:rPr>
                        <a:t>Monthly mosaic</a:t>
                      </a:r>
                    </a:p>
                  </a:txBody>
                  <a:tcPr marL="109728" marR="91440" marT="27432" marB="27432" anchor="ctr">
                    <a:solidFill>
                      <a:srgbClr val="FFFFFF"/>
                    </a:solidFill>
                  </a:tcPr>
                </a:tc>
                <a:tc>
                  <a:txBody>
                    <a:bodyPr wrap="square"/>
                    <a:lstStyle/>
                    <a:p>
                      <a:pPr algn="r"/>
                      <a:r>
                        <a:rPr sz="1100" b="0">
                          <a:solidFill>
                            <a:srgbClr val="1A1A1A"/>
                          </a:solidFill>
                          <a:latin typeface="Arial"/>
                        </a:rPr>
                        <a:t>136.6 min</a:t>
                      </a:r>
                    </a:p>
                  </a:txBody>
                  <a:tcPr marL="109728" marR="91440" marT="27432" marB="27432" anchor="ctr">
                    <a:solidFill>
                      <a:srgbClr val="FFFFFF"/>
                    </a:solidFill>
                  </a:tcPr>
                </a:tc>
                <a:tc>
                  <a:txBody>
                    <a:bodyPr wrap="square"/>
                    <a:lstStyle/>
                    <a:p>
                      <a:pPr algn="r"/>
                      <a:r>
                        <a:rPr sz="1100" b="0">
                          <a:solidFill>
                            <a:srgbClr val="1A1A1A"/>
                          </a:solidFill>
                          <a:latin typeface="Arial"/>
                        </a:rPr>
                        <a:t>65.5 min</a:t>
                      </a:r>
                    </a:p>
                  </a:txBody>
                  <a:tcPr marL="109728" marR="91440" marT="27432" marB="27432" anchor="ctr">
                    <a:solidFill>
                      <a:srgbClr val="FFFFFF"/>
                    </a:solidFill>
                  </a:tcPr>
                </a:tc>
              </a:tr>
              <a:tr h="484632">
                <a:tc>
                  <a:txBody>
                    <a:bodyPr wrap="square"/>
                    <a:lstStyle/>
                    <a:p>
                      <a:pPr algn="l"/>
                      <a:r>
                        <a:rPr sz="1100" b="0">
                          <a:solidFill>
                            <a:srgbClr val="000000"/>
                          </a:solidFill>
                          <a:latin typeface="Arial"/>
                        </a:rPr>
                        <a:t>Four vegetation indices</a:t>
                      </a:r>
                    </a:p>
                  </a:txBody>
                  <a:tcPr marL="109728" marR="91440" marT="27432" marB="27432" anchor="ctr">
                    <a:solidFill>
                      <a:srgbClr val="FFFFFF"/>
                    </a:solidFill>
                  </a:tcPr>
                </a:tc>
                <a:tc>
                  <a:txBody>
                    <a:bodyPr wrap="square"/>
                    <a:lstStyle/>
                    <a:p>
                      <a:pPr algn="r"/>
                      <a:r>
                        <a:rPr sz="1100" b="0">
                          <a:solidFill>
                            <a:srgbClr val="1A1A1A"/>
                          </a:solidFill>
                          <a:latin typeface="Arial"/>
                        </a:rPr>
                        <a:t>2.5 min</a:t>
                      </a:r>
                    </a:p>
                  </a:txBody>
                  <a:tcPr marL="109728" marR="91440" marT="27432" marB="27432" anchor="ctr">
                    <a:solidFill>
                      <a:srgbClr val="FFFFFF"/>
                    </a:solidFill>
                  </a:tcPr>
                </a:tc>
                <a:tc>
                  <a:txBody>
                    <a:bodyPr wrap="square"/>
                    <a:lstStyle/>
                    <a:p>
                      <a:pPr algn="r"/>
                      <a:r>
                        <a:rPr sz="1100" b="0">
                          <a:solidFill>
                            <a:srgbClr val="1A1A1A"/>
                          </a:solidFill>
                          <a:latin typeface="Arial"/>
                        </a:rPr>
                        <a:t>5.7 min</a:t>
                      </a:r>
                    </a:p>
                  </a:txBody>
                  <a:tcPr marL="109728" marR="91440" marT="27432" marB="27432" anchor="ctr">
                    <a:solidFill>
                      <a:srgbClr val="FFFFFF"/>
                    </a:solidFill>
                  </a:tcPr>
                </a:tc>
              </a:tr>
              <a:tr h="484632">
                <a:tc>
                  <a:txBody>
                    <a:bodyPr wrap="square"/>
                    <a:lstStyle/>
                    <a:p>
                      <a:pPr algn="l"/>
                      <a:r>
                        <a:rPr sz="1100" b="1">
                          <a:solidFill>
                            <a:srgbClr val="000000"/>
                          </a:solidFill>
                          <a:latin typeface="Arial"/>
                        </a:rPr>
                        <a:t>Complete monthly command</a:t>
                      </a:r>
                    </a:p>
                  </a:txBody>
                  <a:tcPr marL="109728" marR="91440" marT="27432" marB="27432" anchor="ctr">
                    <a:solidFill>
                      <a:srgbClr val="E9EFF7"/>
                    </a:solidFill>
                  </a:tcPr>
                </a:tc>
                <a:tc>
                  <a:txBody>
                    <a:bodyPr wrap="square"/>
                    <a:lstStyle/>
                    <a:p>
                      <a:pPr algn="r"/>
                      <a:r>
                        <a:rPr sz="1100" b="1">
                          <a:solidFill>
                            <a:srgbClr val="000000"/>
                          </a:solidFill>
                          <a:latin typeface="Arial"/>
                        </a:rPr>
                        <a:t>156.3 min</a:t>
                      </a:r>
                    </a:p>
                  </a:txBody>
                  <a:tcPr marL="109728" marR="91440" marT="27432" marB="27432" anchor="ctr">
                    <a:solidFill>
                      <a:srgbClr val="E9EFF7"/>
                    </a:solidFill>
                  </a:tcPr>
                </a:tc>
                <a:tc>
                  <a:txBody>
                    <a:bodyPr wrap="square"/>
                    <a:lstStyle/>
                    <a:p>
                      <a:pPr algn="r"/>
                      <a:r>
                        <a:rPr sz="1100" b="1">
                          <a:solidFill>
                            <a:srgbClr val="000000"/>
                          </a:solidFill>
                          <a:latin typeface="Arial"/>
                        </a:rPr>
                        <a:t>71.3 min</a:t>
                      </a:r>
                    </a:p>
                  </a:txBody>
                  <a:tcPr marL="109728" marR="91440" marT="27432" marB="27432" anchor="ctr">
                    <a:solidFill>
                      <a:srgbClr val="E9EFF7"/>
                    </a:solidFill>
                  </a:tcPr>
                </a:tc>
              </a:tr>
            </a:tbl>
          </a:graphicData>
        </a:graphic>
      </p:graphicFrame>
      <p:sp>
        <p:nvSpPr>
          <p:cNvPr id="8" name="Rectangle 7"/>
          <p:cNvSpPr/>
          <p:nvPr/>
        </p:nvSpPr>
        <p:spPr>
          <a:xfrm>
            <a:off x="731520" y="4370832"/>
            <a:ext cx="5989320" cy="120700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4462272"/>
            <a:ext cx="5586983" cy="292608"/>
          </a:xfrm>
          <a:prstGeom prst="rect">
            <a:avLst/>
          </a:prstGeom>
          <a:noFill/>
        </p:spPr>
        <p:txBody>
          <a:bodyPr wrap="square" lIns="0" rIns="0" tIns="0" bIns="0" anchor="t">
            <a:spAutoFit/>
          </a:bodyPr>
          <a:lstStyle/>
          <a:p>
            <a:pPr algn="l">
              <a:lnSpc>
                <a:spcPct val="100000"/>
              </a:lnSpc>
            </a:pPr>
            <a:r>
              <a:rPr sz="1150" b="1" i="0">
                <a:solidFill>
                  <a:srgbClr val="000000"/>
                </a:solidFill>
                <a:latin typeface="Arial"/>
              </a:rPr>
              <a:t>An operational benchmark, not a speed test.</a:t>
            </a:r>
          </a:p>
        </p:txBody>
      </p:sp>
      <p:sp>
        <p:nvSpPr>
          <p:cNvPr id="10" name="TextBox 9"/>
          <p:cNvSpPr txBox="1"/>
          <p:nvPr/>
        </p:nvSpPr>
        <p:spPr>
          <a:xfrm>
            <a:off x="932688" y="4773168"/>
            <a:ext cx="5586983" cy="731520"/>
          </a:xfrm>
          <a:prstGeom prst="rect">
            <a:avLst/>
          </a:prstGeom>
          <a:noFill/>
        </p:spPr>
        <p:txBody>
          <a:bodyPr wrap="square" lIns="0" rIns="0" tIns="0" bIns="0" anchor="t">
            <a:spAutoFit/>
          </a:bodyPr>
          <a:lstStyle/>
          <a:p>
            <a:pPr algn="l">
              <a:lnSpc>
                <a:spcPct val="95000"/>
              </a:lnSpc>
            </a:pPr>
            <a:r>
              <a:rPr sz="1050" b="0" i="0">
                <a:solidFill>
                  <a:srgbClr val="1A1A1A"/>
                </a:solidFill>
                <a:latin typeface="Arial"/>
              </a:rPr>
              <a:t>The routes start from different upstream products, so input counts, retrieval scope and mask definitions differ. The Copernicus figure excludes the earlier L2A download phase; the swissEO figure includes network transfer from remote COGs.</a:t>
            </a:r>
          </a:p>
        </p:txBody>
      </p:sp>
      <p:sp>
        <p:nvSpPr>
          <p:cNvPr id="11" name="Rectangle 10"/>
          <p:cNvSpPr/>
          <p:nvPr/>
        </p:nvSpPr>
        <p:spPr>
          <a:xfrm>
            <a:off x="7086600" y="1874519"/>
            <a:ext cx="4370832" cy="1078992"/>
          </a:xfrm>
          <a:prstGeom prst="rect">
            <a:avLst/>
          </a:prstGeom>
          <a:solidFill>
            <a:srgbClr val="215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42631" y="2002536"/>
            <a:ext cx="3858768" cy="457200"/>
          </a:xfrm>
          <a:prstGeom prst="rect">
            <a:avLst/>
          </a:prstGeom>
          <a:noFill/>
        </p:spPr>
        <p:txBody>
          <a:bodyPr wrap="square" lIns="0" rIns="0" tIns="0" bIns="0" anchor="t">
            <a:spAutoFit/>
          </a:bodyPr>
          <a:lstStyle/>
          <a:p>
            <a:pPr algn="l">
              <a:lnSpc>
                <a:spcPct val="100000"/>
              </a:lnSpc>
            </a:pPr>
            <a:r>
              <a:rPr sz="3000" b="1" i="0">
                <a:solidFill>
                  <a:srgbClr val="FFFFFF"/>
                </a:solidFill>
                <a:latin typeface="Arial"/>
              </a:rPr>
              <a:t>2.2×</a:t>
            </a:r>
          </a:p>
        </p:txBody>
      </p:sp>
      <p:sp>
        <p:nvSpPr>
          <p:cNvPr id="13" name="TextBox 12"/>
          <p:cNvSpPr txBox="1"/>
          <p:nvPr/>
        </p:nvSpPr>
        <p:spPr>
          <a:xfrm>
            <a:off x="7342631" y="2496312"/>
            <a:ext cx="3858768" cy="365760"/>
          </a:xfrm>
          <a:prstGeom prst="rect">
            <a:avLst/>
          </a:prstGeom>
          <a:noFill/>
        </p:spPr>
        <p:txBody>
          <a:bodyPr wrap="square" lIns="0" rIns="0" tIns="0" bIns="0" anchor="t">
            <a:spAutoFit/>
          </a:bodyPr>
          <a:lstStyle/>
          <a:p>
            <a:pPr algn="l">
              <a:lnSpc>
                <a:spcPct val="95000"/>
              </a:lnSpc>
            </a:pPr>
            <a:r>
              <a:rPr sz="1100" b="0" i="0">
                <a:solidFill>
                  <a:srgbClr val="C9D7ED"/>
                </a:solidFill>
                <a:latin typeface="Arial"/>
              </a:rPr>
              <a:t>longer for the complete Copernicus monthly command</a:t>
            </a:r>
          </a:p>
        </p:txBody>
      </p:sp>
      <p:sp>
        <p:nvSpPr>
          <p:cNvPr id="14" name="TextBox 13"/>
          <p:cNvSpPr txBox="1"/>
          <p:nvPr/>
        </p:nvSpPr>
        <p:spPr>
          <a:xfrm>
            <a:off x="7086600" y="3172968"/>
            <a:ext cx="4370832" cy="274320"/>
          </a:xfrm>
          <a:prstGeom prst="rect">
            <a:avLst/>
          </a:prstGeom>
          <a:noFill/>
        </p:spPr>
        <p:txBody>
          <a:bodyPr wrap="square" lIns="0" rIns="0" tIns="0" bIns="0" anchor="t">
            <a:spAutoFit/>
          </a:bodyPr>
          <a:lstStyle/>
          <a:p>
            <a:pPr algn="l">
              <a:lnSpc>
                <a:spcPct val="100000"/>
              </a:lnSpc>
            </a:pPr>
            <a:r>
              <a:rPr sz="1000" b="1" i="0" spc="120">
                <a:solidFill>
                  <a:srgbClr val="215CAF"/>
                </a:solidFill>
                <a:latin typeface="Arial"/>
              </a:rPr>
              <a:t>COPERNICUS INDEX STATISTICS</a:t>
            </a:r>
          </a:p>
        </p:txBody>
      </p:sp>
      <p:sp>
        <p:nvSpPr>
          <p:cNvPr id="15" name="TextBox 14"/>
          <p:cNvSpPr txBox="1"/>
          <p:nvPr/>
        </p:nvSpPr>
        <p:spPr>
          <a:xfrm>
            <a:off x="8321040" y="3264408"/>
            <a:ext cx="3136392" cy="219456"/>
          </a:xfrm>
          <a:prstGeom prst="rect">
            <a:avLst/>
          </a:prstGeom>
          <a:noFill/>
        </p:spPr>
        <p:txBody>
          <a:bodyPr wrap="square" lIns="0" rIns="0" tIns="0" bIns="0" anchor="t">
            <a:spAutoFit/>
          </a:bodyPr>
          <a:lstStyle/>
          <a:p>
            <a:pPr algn="r">
              <a:lnSpc>
                <a:spcPct val="100000"/>
              </a:lnSpc>
            </a:pPr>
            <a:r>
              <a:rPr sz="900" b="0" i="0">
                <a:solidFill>
                  <a:srgbClr val="6F6F6F"/>
                </a:solidFill>
                <a:latin typeface="Arial"/>
              </a:rPr>
              <a:t>mean          std. dev.</a:t>
            </a:r>
          </a:p>
        </p:txBody>
      </p:sp>
      <p:sp>
        <p:nvSpPr>
          <p:cNvPr id="16" name="Rectangle 15"/>
          <p:cNvSpPr/>
          <p:nvPr/>
        </p:nvSpPr>
        <p:spPr>
          <a:xfrm>
            <a:off x="7086600" y="3502152"/>
            <a:ext cx="4370832" cy="402336"/>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9480" y="3502152"/>
            <a:ext cx="1188720" cy="402336"/>
          </a:xfrm>
          <a:prstGeom prst="rect">
            <a:avLst/>
          </a:prstGeom>
          <a:noFill/>
        </p:spPr>
        <p:txBody>
          <a:bodyPr wrap="square" lIns="0" rIns="0" tIns="0" bIns="0" anchor="ctr">
            <a:spAutoFit/>
          </a:bodyPr>
          <a:lstStyle/>
          <a:p>
            <a:pPr algn="l">
              <a:lnSpc>
                <a:spcPct val="100000"/>
              </a:lnSpc>
            </a:pPr>
            <a:r>
              <a:rPr sz="1100" b="1" i="0">
                <a:solidFill>
                  <a:srgbClr val="000000"/>
                </a:solidFill>
                <a:latin typeface="Arial"/>
              </a:rPr>
              <a:t>NDVI</a:t>
            </a:r>
          </a:p>
        </p:txBody>
      </p:sp>
      <p:sp>
        <p:nvSpPr>
          <p:cNvPr id="18" name="TextBox 17"/>
          <p:cNvSpPr txBox="1"/>
          <p:nvPr/>
        </p:nvSpPr>
        <p:spPr>
          <a:xfrm>
            <a:off x="8321040" y="3502152"/>
            <a:ext cx="914400" cy="402336"/>
          </a:xfrm>
          <a:prstGeom prst="rect">
            <a:avLst/>
          </a:prstGeom>
          <a:noFill/>
        </p:spPr>
        <p:txBody>
          <a:bodyPr wrap="square" lIns="0" rIns="0" tIns="0" bIns="0" anchor="ctr">
            <a:spAutoFit/>
          </a:bodyPr>
          <a:lstStyle/>
          <a:p>
            <a:pPr algn="r">
              <a:lnSpc>
                <a:spcPct val="100000"/>
              </a:lnSpc>
            </a:pPr>
            <a:r>
              <a:rPr sz="1100" b="0" i="0">
                <a:solidFill>
                  <a:srgbClr val="1A1A1A"/>
                </a:solidFill>
                <a:latin typeface="Arial"/>
              </a:rPr>
              <a:t>0.616</a:t>
            </a:r>
          </a:p>
        </p:txBody>
      </p:sp>
      <p:sp>
        <p:nvSpPr>
          <p:cNvPr id="19" name="TextBox 18"/>
          <p:cNvSpPr txBox="1"/>
          <p:nvPr/>
        </p:nvSpPr>
        <p:spPr>
          <a:xfrm>
            <a:off x="9326880" y="3502152"/>
            <a:ext cx="1947672" cy="402336"/>
          </a:xfrm>
          <a:prstGeom prst="rect">
            <a:avLst/>
          </a:prstGeom>
          <a:noFill/>
        </p:spPr>
        <p:txBody>
          <a:bodyPr wrap="square" lIns="0" rIns="0" tIns="0" bIns="0" anchor="ctr">
            <a:spAutoFit/>
          </a:bodyPr>
          <a:lstStyle/>
          <a:p>
            <a:pPr algn="r">
              <a:lnSpc>
                <a:spcPct val="100000"/>
              </a:lnSpc>
            </a:pPr>
            <a:r>
              <a:rPr sz="1100" b="0" i="0">
                <a:solidFill>
                  <a:srgbClr val="6F6F6F"/>
                </a:solidFill>
                <a:latin typeface="Arial"/>
              </a:rPr>
              <a:t>0.309</a:t>
            </a:r>
          </a:p>
        </p:txBody>
      </p:sp>
      <p:sp>
        <p:nvSpPr>
          <p:cNvPr id="20" name="Rectangle 19"/>
          <p:cNvSpPr/>
          <p:nvPr/>
        </p:nvSpPr>
        <p:spPr>
          <a:xfrm>
            <a:off x="7086600" y="3959352"/>
            <a:ext cx="4370832" cy="402336"/>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80" y="3959352"/>
            <a:ext cx="1188720" cy="402336"/>
          </a:xfrm>
          <a:prstGeom prst="rect">
            <a:avLst/>
          </a:prstGeom>
          <a:noFill/>
        </p:spPr>
        <p:txBody>
          <a:bodyPr wrap="square" lIns="0" rIns="0" tIns="0" bIns="0" anchor="ctr">
            <a:spAutoFit/>
          </a:bodyPr>
          <a:lstStyle/>
          <a:p>
            <a:pPr algn="l">
              <a:lnSpc>
                <a:spcPct val="100000"/>
              </a:lnSpc>
            </a:pPr>
            <a:r>
              <a:rPr sz="1100" b="1" i="0">
                <a:solidFill>
                  <a:srgbClr val="000000"/>
                </a:solidFill>
                <a:latin typeface="Arial"/>
              </a:rPr>
              <a:t>GNDVI</a:t>
            </a:r>
          </a:p>
        </p:txBody>
      </p:sp>
      <p:sp>
        <p:nvSpPr>
          <p:cNvPr id="22" name="TextBox 21"/>
          <p:cNvSpPr txBox="1"/>
          <p:nvPr/>
        </p:nvSpPr>
        <p:spPr>
          <a:xfrm>
            <a:off x="8321040" y="3959352"/>
            <a:ext cx="914400" cy="402336"/>
          </a:xfrm>
          <a:prstGeom prst="rect">
            <a:avLst/>
          </a:prstGeom>
          <a:noFill/>
        </p:spPr>
        <p:txBody>
          <a:bodyPr wrap="square" lIns="0" rIns="0" tIns="0" bIns="0" anchor="ctr">
            <a:spAutoFit/>
          </a:bodyPr>
          <a:lstStyle/>
          <a:p>
            <a:pPr algn="r">
              <a:lnSpc>
                <a:spcPct val="100000"/>
              </a:lnSpc>
            </a:pPr>
            <a:r>
              <a:rPr sz="1100" b="0" i="0">
                <a:solidFill>
                  <a:srgbClr val="1A1A1A"/>
                </a:solidFill>
                <a:latin typeface="Arial"/>
              </a:rPr>
              <a:t>0.543</a:t>
            </a:r>
          </a:p>
        </p:txBody>
      </p:sp>
      <p:sp>
        <p:nvSpPr>
          <p:cNvPr id="23" name="TextBox 22"/>
          <p:cNvSpPr txBox="1"/>
          <p:nvPr/>
        </p:nvSpPr>
        <p:spPr>
          <a:xfrm>
            <a:off x="9326880" y="3959352"/>
            <a:ext cx="1947672" cy="402336"/>
          </a:xfrm>
          <a:prstGeom prst="rect">
            <a:avLst/>
          </a:prstGeom>
          <a:noFill/>
        </p:spPr>
        <p:txBody>
          <a:bodyPr wrap="square" lIns="0" rIns="0" tIns="0" bIns="0" anchor="ctr">
            <a:spAutoFit/>
          </a:bodyPr>
          <a:lstStyle/>
          <a:p>
            <a:pPr algn="r">
              <a:lnSpc>
                <a:spcPct val="100000"/>
              </a:lnSpc>
            </a:pPr>
            <a:r>
              <a:rPr sz="1100" b="0" i="0">
                <a:solidFill>
                  <a:srgbClr val="6F6F6F"/>
                </a:solidFill>
                <a:latin typeface="Arial"/>
              </a:rPr>
              <a:t>0.305</a:t>
            </a:r>
          </a:p>
        </p:txBody>
      </p:sp>
      <p:sp>
        <p:nvSpPr>
          <p:cNvPr id="24" name="Rectangle 23"/>
          <p:cNvSpPr/>
          <p:nvPr/>
        </p:nvSpPr>
        <p:spPr>
          <a:xfrm>
            <a:off x="7086600" y="4416552"/>
            <a:ext cx="4370832" cy="402336"/>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69480" y="4416552"/>
            <a:ext cx="1188720" cy="402336"/>
          </a:xfrm>
          <a:prstGeom prst="rect">
            <a:avLst/>
          </a:prstGeom>
          <a:noFill/>
        </p:spPr>
        <p:txBody>
          <a:bodyPr wrap="square" lIns="0" rIns="0" tIns="0" bIns="0" anchor="ctr">
            <a:spAutoFit/>
          </a:bodyPr>
          <a:lstStyle/>
          <a:p>
            <a:pPr algn="l">
              <a:lnSpc>
                <a:spcPct val="100000"/>
              </a:lnSpc>
            </a:pPr>
            <a:r>
              <a:rPr sz="1100" b="1" i="0">
                <a:solidFill>
                  <a:srgbClr val="000000"/>
                </a:solidFill>
                <a:latin typeface="Arial"/>
              </a:rPr>
              <a:t>NDRE</a:t>
            </a:r>
          </a:p>
        </p:txBody>
      </p:sp>
      <p:sp>
        <p:nvSpPr>
          <p:cNvPr id="26" name="TextBox 25"/>
          <p:cNvSpPr txBox="1"/>
          <p:nvPr/>
        </p:nvSpPr>
        <p:spPr>
          <a:xfrm>
            <a:off x="8321040" y="4416552"/>
            <a:ext cx="914400" cy="402336"/>
          </a:xfrm>
          <a:prstGeom prst="rect">
            <a:avLst/>
          </a:prstGeom>
          <a:noFill/>
        </p:spPr>
        <p:txBody>
          <a:bodyPr wrap="square" lIns="0" rIns="0" tIns="0" bIns="0" anchor="ctr">
            <a:spAutoFit/>
          </a:bodyPr>
          <a:lstStyle/>
          <a:p>
            <a:pPr algn="r">
              <a:lnSpc>
                <a:spcPct val="100000"/>
              </a:lnSpc>
            </a:pPr>
            <a:r>
              <a:rPr sz="1100" b="0" i="0">
                <a:solidFill>
                  <a:srgbClr val="1A1A1A"/>
                </a:solidFill>
                <a:latin typeface="Arial"/>
              </a:rPr>
              <a:t>0.446</a:t>
            </a:r>
          </a:p>
        </p:txBody>
      </p:sp>
      <p:sp>
        <p:nvSpPr>
          <p:cNvPr id="27" name="TextBox 26"/>
          <p:cNvSpPr txBox="1"/>
          <p:nvPr/>
        </p:nvSpPr>
        <p:spPr>
          <a:xfrm>
            <a:off x="9326880" y="4416552"/>
            <a:ext cx="1947672" cy="402336"/>
          </a:xfrm>
          <a:prstGeom prst="rect">
            <a:avLst/>
          </a:prstGeom>
          <a:noFill/>
        </p:spPr>
        <p:txBody>
          <a:bodyPr wrap="square" lIns="0" rIns="0" tIns="0" bIns="0" anchor="ctr">
            <a:spAutoFit/>
          </a:bodyPr>
          <a:lstStyle/>
          <a:p>
            <a:pPr algn="r">
              <a:lnSpc>
                <a:spcPct val="100000"/>
              </a:lnSpc>
            </a:pPr>
            <a:r>
              <a:rPr sz="1100" b="0" i="0">
                <a:solidFill>
                  <a:srgbClr val="6F6F6F"/>
                </a:solidFill>
                <a:latin typeface="Arial"/>
              </a:rPr>
              <a:t>0.231</a:t>
            </a:r>
          </a:p>
        </p:txBody>
      </p:sp>
      <p:sp>
        <p:nvSpPr>
          <p:cNvPr id="28" name="Rectangle 27"/>
          <p:cNvSpPr/>
          <p:nvPr/>
        </p:nvSpPr>
        <p:spPr>
          <a:xfrm>
            <a:off x="7086600" y="4873752"/>
            <a:ext cx="4370832" cy="402336"/>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69480" y="4873752"/>
            <a:ext cx="1188720" cy="402336"/>
          </a:xfrm>
          <a:prstGeom prst="rect">
            <a:avLst/>
          </a:prstGeom>
          <a:noFill/>
        </p:spPr>
        <p:txBody>
          <a:bodyPr wrap="square" lIns="0" rIns="0" tIns="0" bIns="0" anchor="ctr">
            <a:spAutoFit/>
          </a:bodyPr>
          <a:lstStyle/>
          <a:p>
            <a:pPr algn="l">
              <a:lnSpc>
                <a:spcPct val="100000"/>
              </a:lnSpc>
            </a:pPr>
            <a:r>
              <a:rPr sz="1100" b="1" i="0">
                <a:solidFill>
                  <a:srgbClr val="000000"/>
                </a:solidFill>
                <a:latin typeface="Arial"/>
              </a:rPr>
              <a:t>NDWI</a:t>
            </a:r>
          </a:p>
        </p:txBody>
      </p:sp>
      <p:sp>
        <p:nvSpPr>
          <p:cNvPr id="30" name="TextBox 29"/>
          <p:cNvSpPr txBox="1"/>
          <p:nvPr/>
        </p:nvSpPr>
        <p:spPr>
          <a:xfrm>
            <a:off x="8321040" y="4873752"/>
            <a:ext cx="914400" cy="402336"/>
          </a:xfrm>
          <a:prstGeom prst="rect">
            <a:avLst/>
          </a:prstGeom>
          <a:noFill/>
        </p:spPr>
        <p:txBody>
          <a:bodyPr wrap="square" lIns="0" rIns="0" tIns="0" bIns="0" anchor="ctr">
            <a:spAutoFit/>
          </a:bodyPr>
          <a:lstStyle/>
          <a:p>
            <a:pPr algn="r">
              <a:lnSpc>
                <a:spcPct val="100000"/>
              </a:lnSpc>
            </a:pPr>
            <a:r>
              <a:rPr sz="1100" b="0" i="0">
                <a:solidFill>
                  <a:srgbClr val="1A1A1A"/>
                </a:solidFill>
                <a:latin typeface="Arial"/>
              </a:rPr>
              <a:t>0.235</a:t>
            </a:r>
          </a:p>
        </p:txBody>
      </p:sp>
      <p:sp>
        <p:nvSpPr>
          <p:cNvPr id="31" name="TextBox 30"/>
          <p:cNvSpPr txBox="1"/>
          <p:nvPr/>
        </p:nvSpPr>
        <p:spPr>
          <a:xfrm>
            <a:off x="9326880" y="4873752"/>
            <a:ext cx="1947672" cy="402336"/>
          </a:xfrm>
          <a:prstGeom prst="rect">
            <a:avLst/>
          </a:prstGeom>
          <a:noFill/>
        </p:spPr>
        <p:txBody>
          <a:bodyPr wrap="square" lIns="0" rIns="0" tIns="0" bIns="0" anchor="ctr">
            <a:spAutoFit/>
          </a:bodyPr>
          <a:lstStyle/>
          <a:p>
            <a:pPr algn="r">
              <a:lnSpc>
                <a:spcPct val="100000"/>
              </a:lnSpc>
            </a:pPr>
            <a:r>
              <a:rPr sz="1100" b="0" i="0">
                <a:solidFill>
                  <a:srgbClr val="6F6F6F"/>
                </a:solidFill>
                <a:latin typeface="Arial"/>
              </a:rPr>
              <a:t>0.196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pilot stands</a:t>
            </a:r>
          </a:p>
        </p:txBody>
      </p:sp>
      <p:sp>
        <p:nvSpPr>
          <p:cNvPr id="3" name="TextBox 2"/>
          <p:cNvSpPr txBox="1"/>
          <p:nvPr/>
        </p:nvSpPr>
        <p:spPr>
          <a:xfrm>
            <a:off x="2176272" y="6519672"/>
            <a:ext cx="5404104" cy="219456"/>
          </a:xfrm>
          <a:prstGeom prst="rect">
            <a:avLst/>
          </a:prstGeom>
          <a:noFill/>
        </p:spPr>
        <p:txBody>
          <a:bodyPr wrap="square" lIns="0" rIns="0" tIns="0" bIns="0" anchor="ctr">
            <a:spAutoFit/>
          </a:bodyPr>
          <a:lstStyle/>
          <a:p>
            <a:pPr algn="l">
              <a:lnSpc>
                <a:spcPct val="100000"/>
              </a:lnSpc>
            </a:pPr>
            <a:r>
              <a:rPr sz="850" b="0" i="0">
                <a:solidFill>
                  <a:srgbClr val="000000"/>
                </a:solidFill>
                <a:latin typeface="Arial"/>
              </a:rPr>
              <a:t>ITES · UPSCALE · Working Package 4</a:t>
            </a:r>
          </a:p>
        </p:txBody>
      </p:sp>
      <p:sp>
        <p:nvSpPr>
          <p:cNvPr id="4" name="TextBox 3"/>
          <p:cNvSpPr txBox="1"/>
          <p:nvPr/>
        </p:nvSpPr>
        <p:spPr>
          <a:xfrm>
            <a:off x="9326880" y="6519672"/>
            <a:ext cx="1417320" cy="219456"/>
          </a:xfrm>
          <a:prstGeom prst="rect">
            <a:avLst/>
          </a:prstGeom>
          <a:noFill/>
        </p:spPr>
        <p:txBody>
          <a:bodyPr wrap="square" lIns="0" rIns="0" tIns="0" bIns="0" anchor="ctr">
            <a:spAutoFit/>
          </a:bodyPr>
          <a:lstStyle/>
          <a:p>
            <a:pPr algn="r">
              <a:lnSpc>
                <a:spcPct val="100000"/>
              </a:lnSpc>
            </a:pPr>
            <a:r>
              <a:rPr sz="850" b="0" i="0">
                <a:solidFill>
                  <a:srgbClr val="000000"/>
                </a:solidFill>
                <a:latin typeface="Arial"/>
              </a:rPr>
              <a:t>08.09.2026</a:t>
            </a:r>
          </a:p>
        </p:txBody>
      </p:sp>
      <p:sp>
        <p:nvSpPr>
          <p:cNvPr id="5" name="TextBox 4"/>
          <p:cNvSpPr txBox="1"/>
          <p:nvPr/>
        </p:nvSpPr>
        <p:spPr>
          <a:xfrm>
            <a:off x="11018520" y="6519672"/>
            <a:ext cx="411480" cy="219456"/>
          </a:xfrm>
          <a:prstGeom prst="rect">
            <a:avLst/>
          </a:prstGeom>
          <a:noFill/>
        </p:spPr>
        <p:txBody>
          <a:bodyPr wrap="square" lIns="0" rIns="0" tIns="0" bIns="0" anchor="ctr">
            <a:spAutoFit/>
          </a:bodyPr>
          <a:lstStyle/>
          <a:p>
            <a:pPr algn="ctr">
              <a:lnSpc>
                <a:spcPct val="100000"/>
              </a:lnSpc>
            </a:pPr>
            <a:r>
              <a:rPr sz="850" b="0" i="0">
                <a:solidFill>
                  <a:srgbClr val="000000"/>
                </a:solidFill>
                <a:latin typeface="Arial"/>
              </a:rPr>
              <a:t>6</a:t>
            </a:r>
          </a:p>
        </p:txBody>
      </p:sp>
      <p:sp>
        <p:nvSpPr>
          <p:cNvPr id="6" name="Rectangle 5"/>
          <p:cNvSpPr/>
          <p:nvPr/>
        </p:nvSpPr>
        <p:spPr>
          <a:xfrm>
            <a:off x="731520" y="1481328"/>
            <a:ext cx="10725912" cy="841248"/>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Check-215CAF.png"/>
          <p:cNvPicPr>
            <a:picLocks noChangeAspect="1"/>
          </p:cNvPicPr>
          <p:nvPr/>
        </p:nvPicPr>
        <p:blipFill>
          <a:blip r:embed="rId2"/>
          <a:stretch>
            <a:fillRect/>
          </a:stretch>
        </p:blipFill>
        <p:spPr>
          <a:xfrm>
            <a:off x="987552" y="1719072"/>
            <a:ext cx="329184" cy="329184"/>
          </a:xfrm>
          <a:prstGeom prst="rect">
            <a:avLst/>
          </a:prstGeom>
        </p:spPr>
      </p:pic>
      <p:sp>
        <p:nvSpPr>
          <p:cNvPr id="8" name="TextBox 7"/>
          <p:cNvSpPr txBox="1"/>
          <p:nvPr/>
        </p:nvSpPr>
        <p:spPr>
          <a:xfrm>
            <a:off x="1536192" y="1481328"/>
            <a:ext cx="9674352" cy="841248"/>
          </a:xfrm>
          <a:prstGeom prst="rect">
            <a:avLst/>
          </a:prstGeom>
          <a:noFill/>
        </p:spPr>
        <p:txBody>
          <a:bodyPr wrap="square" lIns="0" rIns="0" tIns="0" bIns="0" anchor="ctr">
            <a:spAutoFit/>
          </a:bodyPr>
          <a:lstStyle/>
          <a:p>
            <a:pPr algn="l">
              <a:lnSpc>
                <a:spcPct val="98000"/>
              </a:lnSpc>
            </a:pPr>
            <a:r>
              <a:rPr sz="1200" b="1" i="0">
                <a:solidFill>
                  <a:srgbClr val="000000"/>
                </a:solidFill>
                <a:latin typeface="Arial"/>
              </a:rPr>
              <a:t>All four scientific COGs were inspected after publication.  </a:t>
            </a:r>
            <a:r>
              <a:rPr sz="1200" b="0" i="0">
                <a:solidFill>
                  <a:srgbClr val="1A1A1A"/>
                </a:solidFill>
                <a:latin typeface="Arial"/>
              </a:rPr>
              <a:t>COG layout, DEFLATE compression, internal cubic overviews, Float32 pixels, EPSG:2056, 20 m on the 17,423 × 11,034 grid, nodata −9999 on every band, and index values bounded to −1…+1 for valid pixels.</a:t>
            </a:r>
          </a:p>
        </p:txBody>
      </p:sp>
      <p:sp>
        <p:nvSpPr>
          <p:cNvPr id="9" name="Rectangle 8"/>
          <p:cNvSpPr/>
          <p:nvPr/>
        </p:nvSpPr>
        <p:spPr>
          <a:xfrm>
            <a:off x="731520" y="2542032"/>
            <a:ext cx="5225796" cy="93268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aCheck-215CAF.png"/>
          <p:cNvPicPr>
            <a:picLocks noChangeAspect="1"/>
          </p:cNvPicPr>
          <p:nvPr/>
        </p:nvPicPr>
        <p:blipFill>
          <a:blip r:embed="rId2"/>
          <a:stretch>
            <a:fillRect/>
          </a:stretch>
        </p:blipFill>
        <p:spPr>
          <a:xfrm>
            <a:off x="969264" y="2670048"/>
            <a:ext cx="329184" cy="329184"/>
          </a:xfrm>
          <a:prstGeom prst="rect">
            <a:avLst/>
          </a:prstGeom>
        </p:spPr>
      </p:pic>
      <p:sp>
        <p:nvSpPr>
          <p:cNvPr id="11" name="TextBox 10"/>
          <p:cNvSpPr txBox="1"/>
          <p:nvPr/>
        </p:nvSpPr>
        <p:spPr>
          <a:xfrm>
            <a:off x="1444752" y="2651760"/>
            <a:ext cx="4311396" cy="329184"/>
          </a:xfrm>
          <a:prstGeom prst="rect">
            <a:avLst/>
          </a:prstGeom>
          <a:noFill/>
        </p:spPr>
        <p:txBody>
          <a:bodyPr wrap="square" lIns="0" rIns="0" tIns="0" bIns="0" anchor="t">
            <a:spAutoFit/>
          </a:bodyPr>
          <a:lstStyle/>
          <a:p>
            <a:pPr algn="l">
              <a:lnSpc>
                <a:spcPct val="100000"/>
              </a:lnSpc>
            </a:pPr>
            <a:r>
              <a:rPr sz="1250" b="1" i="0">
                <a:solidFill>
                  <a:srgbClr val="000000"/>
                </a:solidFill>
                <a:latin typeface="Arial"/>
              </a:rPr>
              <a:t>Both routes are usable</a:t>
            </a:r>
          </a:p>
        </p:txBody>
      </p:sp>
      <p:sp>
        <p:nvSpPr>
          <p:cNvPr id="12" name="TextBox 11"/>
          <p:cNvSpPr txBox="1"/>
          <p:nvPr/>
        </p:nvSpPr>
        <p:spPr>
          <a:xfrm>
            <a:off x="1444752" y="2999232"/>
            <a:ext cx="4311396" cy="384048"/>
          </a:xfrm>
          <a:prstGeom prst="rect">
            <a:avLst/>
          </a:prstGeom>
          <a:noFill/>
        </p:spPr>
        <p:txBody>
          <a:bodyPr wrap="square" lIns="0" rIns="0" tIns="0" bIns="0" anchor="t">
            <a:spAutoFit/>
          </a:bodyPr>
          <a:lstStyle/>
          <a:p>
            <a:pPr algn="l">
              <a:lnSpc>
                <a:spcPct val="95000"/>
              </a:lnSpc>
            </a:pPr>
            <a:r>
              <a:rPr sz="1100" b="0" i="0">
                <a:solidFill>
                  <a:srgbClr val="6F6F6F"/>
                </a:solidFill>
                <a:latin typeface="Arial"/>
              </a:rPr>
              <a:t>They agree on the national vegetation pattern for July 2024.</a:t>
            </a:r>
          </a:p>
        </p:txBody>
      </p:sp>
      <p:sp>
        <p:nvSpPr>
          <p:cNvPr id="13" name="Rectangle 12"/>
          <p:cNvSpPr/>
          <p:nvPr/>
        </p:nvSpPr>
        <p:spPr>
          <a:xfrm>
            <a:off x="6231636" y="2542032"/>
            <a:ext cx="5225796" cy="93268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aLayerGroup-215CAF.png"/>
          <p:cNvPicPr>
            <a:picLocks noChangeAspect="1"/>
          </p:cNvPicPr>
          <p:nvPr/>
        </p:nvPicPr>
        <p:blipFill>
          <a:blip r:embed="rId3"/>
          <a:stretch>
            <a:fillRect/>
          </a:stretch>
        </p:blipFill>
        <p:spPr>
          <a:xfrm>
            <a:off x="6469379" y="2670048"/>
            <a:ext cx="329184" cy="329184"/>
          </a:xfrm>
          <a:prstGeom prst="rect">
            <a:avLst/>
          </a:prstGeom>
        </p:spPr>
      </p:pic>
      <p:sp>
        <p:nvSpPr>
          <p:cNvPr id="15" name="TextBox 14"/>
          <p:cNvSpPr txBox="1"/>
          <p:nvPr/>
        </p:nvSpPr>
        <p:spPr>
          <a:xfrm>
            <a:off x="6944868" y="2651760"/>
            <a:ext cx="4311396" cy="329184"/>
          </a:xfrm>
          <a:prstGeom prst="rect">
            <a:avLst/>
          </a:prstGeom>
          <a:noFill/>
        </p:spPr>
        <p:txBody>
          <a:bodyPr wrap="square" lIns="0" rIns="0" tIns="0" bIns="0" anchor="t">
            <a:spAutoFit/>
          </a:bodyPr>
          <a:lstStyle/>
          <a:p>
            <a:pPr algn="l">
              <a:lnSpc>
                <a:spcPct val="100000"/>
              </a:lnSpc>
            </a:pPr>
            <a:r>
              <a:rPr sz="1250" b="1" i="0">
                <a:solidFill>
                  <a:srgbClr val="000000"/>
                </a:solidFill>
                <a:latin typeface="Arial"/>
              </a:rPr>
              <a:t>swissEO is the cheaper route</a:t>
            </a:r>
          </a:p>
        </p:txBody>
      </p:sp>
      <p:sp>
        <p:nvSpPr>
          <p:cNvPr id="16" name="TextBox 15"/>
          <p:cNvSpPr txBox="1"/>
          <p:nvPr/>
        </p:nvSpPr>
        <p:spPr>
          <a:xfrm>
            <a:off x="6944868" y="2999232"/>
            <a:ext cx="4311396" cy="384048"/>
          </a:xfrm>
          <a:prstGeom prst="rect">
            <a:avLst/>
          </a:prstGeom>
          <a:noFill/>
        </p:spPr>
        <p:txBody>
          <a:bodyPr wrap="square" lIns="0" rIns="0" tIns="0" bIns="0" anchor="t">
            <a:spAutoFit/>
          </a:bodyPr>
          <a:lstStyle/>
          <a:p>
            <a:pPr algn="l">
              <a:lnSpc>
                <a:spcPct val="95000"/>
              </a:lnSpc>
            </a:pPr>
            <a:r>
              <a:rPr sz="1100" b="0" i="0">
                <a:solidFill>
                  <a:srgbClr val="6F6F6F"/>
                </a:solidFill>
                <a:latin typeface="Arial"/>
              </a:rPr>
              <a:t>About 2.2× faster end to end and needs no local L2A archive.</a:t>
            </a:r>
          </a:p>
        </p:txBody>
      </p:sp>
      <p:sp>
        <p:nvSpPr>
          <p:cNvPr id="17" name="Rectangle 16"/>
          <p:cNvSpPr/>
          <p:nvPr/>
        </p:nvSpPr>
        <p:spPr>
          <a:xfrm>
            <a:off x="731520" y="3675887"/>
            <a:ext cx="5225796" cy="93268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Cogs-215CAF.png"/>
          <p:cNvPicPr>
            <a:picLocks noChangeAspect="1"/>
          </p:cNvPicPr>
          <p:nvPr/>
        </p:nvPicPr>
        <p:blipFill>
          <a:blip r:embed="rId4"/>
          <a:stretch>
            <a:fillRect/>
          </a:stretch>
        </p:blipFill>
        <p:spPr>
          <a:xfrm>
            <a:off x="969264" y="3803903"/>
            <a:ext cx="329184" cy="329184"/>
          </a:xfrm>
          <a:prstGeom prst="rect">
            <a:avLst/>
          </a:prstGeom>
        </p:spPr>
      </p:pic>
      <p:sp>
        <p:nvSpPr>
          <p:cNvPr id="19" name="TextBox 18"/>
          <p:cNvSpPr txBox="1"/>
          <p:nvPr/>
        </p:nvSpPr>
        <p:spPr>
          <a:xfrm>
            <a:off x="1444752" y="3785615"/>
            <a:ext cx="4311396" cy="329184"/>
          </a:xfrm>
          <a:prstGeom prst="rect">
            <a:avLst/>
          </a:prstGeom>
          <a:noFill/>
        </p:spPr>
        <p:txBody>
          <a:bodyPr wrap="square" lIns="0" rIns="0" tIns="0" bIns="0" anchor="t">
            <a:spAutoFit/>
          </a:bodyPr>
          <a:lstStyle/>
          <a:p>
            <a:pPr algn="l">
              <a:lnSpc>
                <a:spcPct val="100000"/>
              </a:lnSpc>
            </a:pPr>
            <a:r>
              <a:rPr sz="1250" b="1" i="0">
                <a:solidFill>
                  <a:srgbClr val="000000"/>
                </a:solidFill>
                <a:latin typeface="Arial"/>
              </a:rPr>
              <a:t>Copernicus keeps mask control</a:t>
            </a:r>
          </a:p>
        </p:txBody>
      </p:sp>
      <p:sp>
        <p:nvSpPr>
          <p:cNvPr id="20" name="TextBox 19"/>
          <p:cNvSpPr txBox="1"/>
          <p:nvPr/>
        </p:nvSpPr>
        <p:spPr>
          <a:xfrm>
            <a:off x="1444752" y="4133087"/>
            <a:ext cx="4311396" cy="384048"/>
          </a:xfrm>
          <a:prstGeom prst="rect">
            <a:avLst/>
          </a:prstGeom>
          <a:noFill/>
        </p:spPr>
        <p:txBody>
          <a:bodyPr wrap="square" lIns="0" rIns="0" tIns="0" bIns="0" anchor="t">
            <a:spAutoFit/>
          </a:bodyPr>
          <a:lstStyle/>
          <a:p>
            <a:pPr algn="l">
              <a:lnSpc>
                <a:spcPct val="95000"/>
              </a:lnSpc>
            </a:pPr>
            <a:r>
              <a:rPr sz="1100" b="0" i="0">
                <a:solidFill>
                  <a:srgbClr val="6F6F6F"/>
                </a:solidFill>
                <a:latin typeface="Arial"/>
              </a:rPr>
              <a:t>Full control of the screening policy, and a faster index stage.</a:t>
            </a:r>
          </a:p>
        </p:txBody>
      </p:sp>
      <p:sp>
        <p:nvSpPr>
          <p:cNvPr id="21" name="Rectangle 20"/>
          <p:cNvSpPr/>
          <p:nvPr/>
        </p:nvSpPr>
        <p:spPr>
          <a:xfrm>
            <a:off x="6231636" y="3675887"/>
            <a:ext cx="5225796" cy="93268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aExclamationCircle-B7352D.png"/>
          <p:cNvPicPr>
            <a:picLocks noChangeAspect="1"/>
          </p:cNvPicPr>
          <p:nvPr/>
        </p:nvPicPr>
        <p:blipFill>
          <a:blip r:embed="rId5"/>
          <a:stretch>
            <a:fillRect/>
          </a:stretch>
        </p:blipFill>
        <p:spPr>
          <a:xfrm>
            <a:off x="6469379" y="3803903"/>
            <a:ext cx="329184" cy="329184"/>
          </a:xfrm>
          <a:prstGeom prst="rect">
            <a:avLst/>
          </a:prstGeom>
        </p:spPr>
      </p:pic>
      <p:sp>
        <p:nvSpPr>
          <p:cNvPr id="23" name="TextBox 22"/>
          <p:cNvSpPr txBox="1"/>
          <p:nvPr/>
        </p:nvSpPr>
        <p:spPr>
          <a:xfrm>
            <a:off x="6944868" y="3785615"/>
            <a:ext cx="4311396" cy="329184"/>
          </a:xfrm>
          <a:prstGeom prst="rect">
            <a:avLst/>
          </a:prstGeom>
          <a:noFill/>
        </p:spPr>
        <p:txBody>
          <a:bodyPr wrap="square" lIns="0" rIns="0" tIns="0" bIns="0" anchor="t">
            <a:spAutoFit/>
          </a:bodyPr>
          <a:lstStyle/>
          <a:p>
            <a:pPr algn="l">
              <a:lnSpc>
                <a:spcPct val="100000"/>
              </a:lnSpc>
            </a:pPr>
            <a:r>
              <a:rPr sz="1250" b="1" i="0">
                <a:solidFill>
                  <a:srgbClr val="000000"/>
                </a:solidFill>
                <a:latin typeface="Arial"/>
              </a:rPr>
              <a:t>One gap remains</a:t>
            </a:r>
          </a:p>
        </p:txBody>
      </p:sp>
      <p:sp>
        <p:nvSpPr>
          <p:cNvPr id="24" name="TextBox 23"/>
          <p:cNvSpPr txBox="1"/>
          <p:nvPr/>
        </p:nvSpPr>
        <p:spPr>
          <a:xfrm>
            <a:off x="6944868" y="4133087"/>
            <a:ext cx="4311396" cy="384048"/>
          </a:xfrm>
          <a:prstGeom prst="rect">
            <a:avLst/>
          </a:prstGeom>
          <a:noFill/>
        </p:spPr>
        <p:txBody>
          <a:bodyPr wrap="square" lIns="0" rIns="0" tIns="0" bIns="0" anchor="t">
            <a:spAutoFit/>
          </a:bodyPr>
          <a:lstStyle/>
          <a:p>
            <a:pPr algn="l">
              <a:lnSpc>
                <a:spcPct val="95000"/>
              </a:lnSpc>
            </a:pPr>
            <a:r>
              <a:rPr sz="1100" b="0" i="0">
                <a:solidFill>
                  <a:srgbClr val="6F6F6F"/>
                </a:solidFill>
                <a:latin typeface="Arial"/>
              </a:rPr>
              <a:t>No quantified cross-source coverage or agreement statistic yet.</a:t>
            </a:r>
          </a:p>
        </p:txBody>
      </p:sp>
      <p:sp>
        <p:nvSpPr>
          <p:cNvPr id="25" name="Rectangle 24"/>
          <p:cNvSpPr/>
          <p:nvPr/>
        </p:nvSpPr>
        <p:spPr>
          <a:xfrm>
            <a:off x="731520" y="4828032"/>
            <a:ext cx="10725912" cy="566928"/>
          </a:xfrm>
          <a:prstGeom prst="rect">
            <a:avLst/>
          </a:prstGeom>
          <a:solidFill>
            <a:srgbClr val="215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828032"/>
            <a:ext cx="10177272" cy="566928"/>
          </a:xfrm>
          <a:prstGeom prst="rect">
            <a:avLst/>
          </a:prstGeom>
          <a:noFill/>
        </p:spPr>
        <p:txBody>
          <a:bodyPr wrap="square" lIns="0" rIns="0" tIns="0" bIns="0" anchor="ctr">
            <a:spAutoFit/>
          </a:bodyPr>
          <a:lstStyle/>
          <a:p>
            <a:pPr algn="l">
              <a:lnSpc>
                <a:spcPct val="95000"/>
              </a:lnSpc>
            </a:pPr>
            <a:r>
              <a:rPr sz="1200" b="1" i="0">
                <a:solidFill>
                  <a:srgbClr val="C9D7ED"/>
                </a:solidFill>
                <a:latin typeface="Arial"/>
              </a:rPr>
              <a:t>Next:  </a:t>
            </a:r>
            <a:r>
              <a:rPr sz="1200" b="0" i="0">
                <a:solidFill>
                  <a:srgbClr val="FFFFFF"/>
                </a:solidFill>
                <a:latin typeface="Arial"/>
              </a:rPr>
              <a:t>quantify cross-source coverage and difference statistics, extend beyond July 2024, and decide whether FORCE is revisited under a storage preflight.</a:t>
            </a:r>
          </a:p>
        </p:txBody>
      </p:sp>
      <p:sp>
        <p:nvSpPr>
          <p:cNvPr id="27" name="TextBox 26"/>
          <p:cNvSpPr txBox="1"/>
          <p:nvPr/>
        </p:nvSpPr>
        <p:spPr>
          <a:xfrm>
            <a:off x="731520" y="6126480"/>
            <a:ext cx="10725912" cy="237744"/>
          </a:xfrm>
          <a:prstGeom prst="rect">
            <a:avLst/>
          </a:prstGeom>
          <a:noFill/>
        </p:spPr>
        <p:txBody>
          <a:bodyPr wrap="square" lIns="0" rIns="0" tIns="0" bIns="0" anchor="t">
            <a:spAutoFit/>
          </a:bodyPr>
          <a:lstStyle/>
          <a:p>
            <a:pPr algn="l">
              <a:lnSpc>
                <a:spcPct val="100000"/>
              </a:lnSpc>
            </a:pPr>
            <a:r>
              <a:rPr sz="1000" b="0" i="1">
                <a:solidFill>
                  <a:srgbClr val="6F6F6F"/>
                </a:solidFill>
                <a:latin typeface="Arial"/>
              </a:rPr>
              <a:t>swissEO attribution required on any reuse: © swisstopo, Contains modified Copernicus Sentinel data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176272" y="6519672"/>
            <a:ext cx="5404104" cy="219456"/>
          </a:xfrm>
          <a:prstGeom prst="rect">
            <a:avLst/>
          </a:prstGeom>
          <a:noFill/>
        </p:spPr>
        <p:txBody>
          <a:bodyPr wrap="square" lIns="0" rIns="0" tIns="0" bIns="0" anchor="ctr">
            <a:spAutoFit/>
          </a:bodyPr>
          <a:lstStyle/>
          <a:p>
            <a:pPr algn="l">
              <a:lnSpc>
                <a:spcPct val="100000"/>
              </a:lnSpc>
            </a:pPr>
            <a:r>
              <a:rPr sz="850" b="0" i="0">
                <a:solidFill>
                  <a:srgbClr val="000000"/>
                </a:solidFill>
                <a:latin typeface="Arial"/>
              </a:rPr>
              <a:t>ITES · UPSCALE · Working Package 4</a:t>
            </a:r>
          </a:p>
        </p:txBody>
      </p:sp>
      <p:sp>
        <p:nvSpPr>
          <p:cNvPr id="3" name="TextBox 2"/>
          <p:cNvSpPr txBox="1"/>
          <p:nvPr/>
        </p:nvSpPr>
        <p:spPr>
          <a:xfrm>
            <a:off x="9326880" y="6519672"/>
            <a:ext cx="1417320" cy="219456"/>
          </a:xfrm>
          <a:prstGeom prst="rect">
            <a:avLst/>
          </a:prstGeom>
          <a:noFill/>
        </p:spPr>
        <p:txBody>
          <a:bodyPr wrap="square" lIns="0" rIns="0" tIns="0" bIns="0" anchor="ctr">
            <a:spAutoFit/>
          </a:bodyPr>
          <a:lstStyle/>
          <a:p>
            <a:pPr algn="r">
              <a:lnSpc>
                <a:spcPct val="100000"/>
              </a:lnSpc>
            </a:pPr>
            <a:r>
              <a:rPr sz="850" b="0" i="0">
                <a:solidFill>
                  <a:srgbClr val="000000"/>
                </a:solidFill>
                <a:latin typeface="Arial"/>
              </a:rPr>
              <a:t>08.09.2026</a:t>
            </a:r>
          </a:p>
        </p:txBody>
      </p:sp>
      <p:pic>
        <p:nvPicPr>
          <p:cNvPr id="4" name="Picture 3" descr="upscale_logo.png"/>
          <p:cNvPicPr>
            <a:picLocks noChangeAspect="1"/>
          </p:cNvPicPr>
          <p:nvPr/>
        </p:nvPicPr>
        <p:blipFill>
          <a:blip r:embed="rId2"/>
          <a:stretch>
            <a:fillRect/>
          </a:stretch>
        </p:blipFill>
        <p:spPr>
          <a:xfrm>
            <a:off x="9849190" y="502920"/>
            <a:ext cx="1608241" cy="1371600"/>
          </a:xfrm>
          <a:prstGeom prst="rect">
            <a:avLst/>
          </a:prstGeom>
        </p:spPr>
      </p:pic>
      <p:sp>
        <p:nvSpPr>
          <p:cNvPr id="5" name="TextBox 4"/>
          <p:cNvSpPr txBox="1"/>
          <p:nvPr/>
        </p:nvSpPr>
        <p:spPr>
          <a:xfrm>
            <a:off x="731520" y="2331720"/>
            <a:ext cx="10725912" cy="292608"/>
          </a:xfrm>
          <a:prstGeom prst="rect">
            <a:avLst/>
          </a:prstGeom>
          <a:noFill/>
        </p:spPr>
        <p:txBody>
          <a:bodyPr wrap="square" lIns="0" rIns="0" tIns="0" bIns="0" anchor="t">
            <a:spAutoFit/>
          </a:bodyPr>
          <a:lstStyle/>
          <a:p>
            <a:pPr algn="l">
              <a:lnSpc>
                <a:spcPct val="100000"/>
              </a:lnSpc>
            </a:pPr>
            <a:r>
              <a:rPr sz="1300" b="1" i="0" spc="180">
                <a:solidFill>
                  <a:srgbClr val="215CAF"/>
                </a:solidFill>
                <a:latin typeface="Arial"/>
              </a:rPr>
              <a:t>SUMMARY</a:t>
            </a:r>
          </a:p>
        </p:txBody>
      </p:sp>
      <p:sp>
        <p:nvSpPr>
          <p:cNvPr id="6" name="TextBox 5"/>
          <p:cNvSpPr txBox="1"/>
          <p:nvPr/>
        </p:nvSpPr>
        <p:spPr>
          <a:xfrm>
            <a:off x="731520" y="2743200"/>
            <a:ext cx="10725912" cy="822960"/>
          </a:xfrm>
          <a:prstGeom prst="rect">
            <a:avLst/>
          </a:prstGeom>
          <a:noFill/>
        </p:spPr>
        <p:txBody>
          <a:bodyPr wrap="square" lIns="0" rIns="0" tIns="0" bIns="0" anchor="t">
            <a:spAutoFit/>
          </a:bodyPr>
          <a:lstStyle/>
          <a:p>
            <a:pPr algn="l">
              <a:lnSpc>
                <a:spcPct val="100000"/>
              </a:lnSpc>
            </a:pPr>
            <a:r>
              <a:rPr sz="3400" b="1" i="0">
                <a:solidFill>
                  <a:srgbClr val="000000"/>
                </a:solidFill>
                <a:latin typeface="Arial"/>
              </a:rPr>
              <a:t>Two routes, one consistent national picture</a:t>
            </a:r>
          </a:p>
        </p:txBody>
      </p:sp>
      <p:sp>
        <p:nvSpPr>
          <p:cNvPr id="7" name="TextBox 6"/>
          <p:cNvSpPr txBox="1"/>
          <p:nvPr/>
        </p:nvSpPr>
        <p:spPr>
          <a:xfrm>
            <a:off x="731520" y="3703320"/>
            <a:ext cx="10725912" cy="640080"/>
          </a:xfrm>
          <a:prstGeom prst="rect">
            <a:avLst/>
          </a:prstGeom>
          <a:noFill/>
        </p:spPr>
        <p:txBody>
          <a:bodyPr wrap="square" lIns="0" rIns="0" tIns="0" bIns="0" anchor="t">
            <a:spAutoFit/>
          </a:bodyPr>
          <a:lstStyle/>
          <a:p>
            <a:pPr algn="l">
              <a:lnSpc>
                <a:spcPct val="105000"/>
              </a:lnSpc>
            </a:pPr>
            <a:r>
              <a:rPr sz="1500" b="0" i="0">
                <a:solidFill>
                  <a:srgbClr val="1A1A1A"/>
                </a:solidFill>
                <a:latin typeface="Arial"/>
              </a:rPr>
              <a:t>Copernicus L2A and swissEO S2-SR agree on Switzerland's July 2024 vegetation condition. Their differences are coverage and masking, not vegetation. swissEO is the cheaper monthly route; Copernicus keeps full control of the mask.</a:t>
            </a:r>
          </a:p>
        </p:txBody>
      </p:sp>
      <p:sp>
        <p:nvSpPr>
          <p:cNvPr id="8" name="Rectangle 7"/>
          <p:cNvSpPr/>
          <p:nvPr/>
        </p:nvSpPr>
        <p:spPr>
          <a:xfrm>
            <a:off x="731520" y="4617720"/>
            <a:ext cx="2426817" cy="420624"/>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617720"/>
            <a:ext cx="2426817" cy="420624"/>
          </a:xfrm>
          <a:prstGeom prst="rect">
            <a:avLst/>
          </a:prstGeom>
          <a:noFill/>
        </p:spPr>
        <p:txBody>
          <a:bodyPr wrap="square" lIns="0" rIns="0" tIns="0" bIns="0" anchor="ctr">
            <a:spAutoFit/>
          </a:bodyPr>
          <a:lstStyle/>
          <a:p>
            <a:pPr algn="ctr">
              <a:lnSpc>
                <a:spcPct val="100000"/>
              </a:lnSpc>
            </a:pPr>
            <a:r>
              <a:rPr sz="1150" b="1" i="0">
                <a:solidFill>
                  <a:srgbClr val="215CAF"/>
                </a:solidFill>
                <a:latin typeface="Arial"/>
              </a:rPr>
              <a:t>65 scenes vs 16 mosaics</a:t>
            </a:r>
          </a:p>
        </p:txBody>
      </p:sp>
      <p:sp>
        <p:nvSpPr>
          <p:cNvPr id="10" name="Rectangle 9"/>
          <p:cNvSpPr/>
          <p:nvPr/>
        </p:nvSpPr>
        <p:spPr>
          <a:xfrm>
            <a:off x="3341217" y="4617720"/>
            <a:ext cx="1799539" cy="420624"/>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41217" y="4617720"/>
            <a:ext cx="1799539" cy="420624"/>
          </a:xfrm>
          <a:prstGeom prst="rect">
            <a:avLst/>
          </a:prstGeom>
          <a:noFill/>
        </p:spPr>
        <p:txBody>
          <a:bodyPr wrap="square" lIns="0" rIns="0" tIns="0" bIns="0" anchor="ctr">
            <a:spAutoFit/>
          </a:bodyPr>
          <a:lstStyle/>
          <a:p>
            <a:pPr algn="ctr">
              <a:lnSpc>
                <a:spcPct val="100000"/>
              </a:lnSpc>
            </a:pPr>
            <a:r>
              <a:rPr sz="1150" b="1" i="0">
                <a:solidFill>
                  <a:srgbClr val="215CAF"/>
                </a:solidFill>
                <a:latin typeface="Arial"/>
              </a:rPr>
              <a:t>20 m · EPSG:2056</a:t>
            </a:r>
          </a:p>
        </p:txBody>
      </p:sp>
      <p:sp>
        <p:nvSpPr>
          <p:cNvPr id="12" name="Rectangle 11"/>
          <p:cNvSpPr/>
          <p:nvPr/>
        </p:nvSpPr>
        <p:spPr>
          <a:xfrm>
            <a:off x="5323636" y="4617720"/>
            <a:ext cx="2337206" cy="420624"/>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3636" y="4617720"/>
            <a:ext cx="2337206" cy="420624"/>
          </a:xfrm>
          <a:prstGeom prst="rect">
            <a:avLst/>
          </a:prstGeom>
          <a:noFill/>
        </p:spPr>
        <p:txBody>
          <a:bodyPr wrap="square" lIns="0" rIns="0" tIns="0" bIns="0" anchor="ctr">
            <a:spAutoFit/>
          </a:bodyPr>
          <a:lstStyle/>
          <a:p>
            <a:pPr algn="ctr">
              <a:lnSpc>
                <a:spcPct val="100000"/>
              </a:lnSpc>
            </a:pPr>
            <a:r>
              <a:rPr sz="1150" b="1" i="0">
                <a:solidFill>
                  <a:srgbClr val="215CAF"/>
                </a:solidFill>
                <a:latin typeface="Arial"/>
              </a:rPr>
              <a:t>2.2× faster end to end</a:t>
            </a:r>
          </a:p>
        </p:txBody>
      </p:sp>
      <p:sp>
        <p:nvSpPr>
          <p:cNvPr id="14" name="Rectangle 13"/>
          <p:cNvSpPr/>
          <p:nvPr/>
        </p:nvSpPr>
        <p:spPr>
          <a:xfrm>
            <a:off x="7843723" y="4617720"/>
            <a:ext cx="1799539" cy="420624"/>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43723" y="4617720"/>
            <a:ext cx="1799539" cy="420624"/>
          </a:xfrm>
          <a:prstGeom prst="rect">
            <a:avLst/>
          </a:prstGeom>
          <a:noFill/>
        </p:spPr>
        <p:txBody>
          <a:bodyPr wrap="square" lIns="0" rIns="0" tIns="0" bIns="0" anchor="ctr">
            <a:spAutoFit/>
          </a:bodyPr>
          <a:lstStyle/>
          <a:p>
            <a:pPr algn="ctr">
              <a:lnSpc>
                <a:spcPct val="100000"/>
              </a:lnSpc>
            </a:pPr>
            <a:r>
              <a:rPr sz="1150" b="1" i="0">
                <a:solidFill>
                  <a:srgbClr val="215CAF"/>
                </a:solidFill>
                <a:latin typeface="Arial"/>
              </a:rPr>
              <a:t>4 validated COGs</a:t>
            </a:r>
          </a:p>
        </p:txBody>
      </p:sp>
      <p:sp>
        <p:nvSpPr>
          <p:cNvPr id="16" name="Rectangle 15"/>
          <p:cNvSpPr/>
          <p:nvPr/>
        </p:nvSpPr>
        <p:spPr>
          <a:xfrm>
            <a:off x="731520" y="5349240"/>
            <a:ext cx="10725912" cy="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458968"/>
            <a:ext cx="10725912" cy="274320"/>
          </a:xfrm>
          <a:prstGeom prst="rect">
            <a:avLst/>
          </a:prstGeom>
          <a:noFill/>
        </p:spPr>
        <p:txBody>
          <a:bodyPr wrap="square" lIns="0" rIns="0" tIns="0" bIns="0" anchor="t">
            <a:spAutoFit/>
          </a:bodyPr>
          <a:lstStyle/>
          <a:p>
            <a:pPr algn="l">
              <a:lnSpc>
                <a:spcPct val="100000"/>
              </a:lnSpc>
            </a:pPr>
            <a:r>
              <a:rPr sz="1100" b="0" i="0">
                <a:solidFill>
                  <a:srgbClr val="6F6F6F"/>
                </a:solidFill>
                <a:latin typeface="Arial"/>
              </a:rPr>
              <a:t>Full report, manifests and logs remain on the upscale share.   ·   Normand Overney  ·  ITES, ETH Zürich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where the composites and images live</a:t>
            </a:r>
          </a:p>
        </p:txBody>
      </p:sp>
      <p:sp>
        <p:nvSpPr>
          <p:cNvPr id="3" name="TextBox 2"/>
          <p:cNvSpPr txBox="1"/>
          <p:nvPr/>
        </p:nvSpPr>
        <p:spPr>
          <a:xfrm>
            <a:off x="2176272" y="6519672"/>
            <a:ext cx="5404104" cy="219456"/>
          </a:xfrm>
          <a:prstGeom prst="rect">
            <a:avLst/>
          </a:prstGeom>
          <a:noFill/>
        </p:spPr>
        <p:txBody>
          <a:bodyPr wrap="square" lIns="0" rIns="0" tIns="0" bIns="0" anchor="ctr">
            <a:spAutoFit/>
          </a:bodyPr>
          <a:lstStyle/>
          <a:p>
            <a:pPr algn="l">
              <a:lnSpc>
                <a:spcPct val="100000"/>
              </a:lnSpc>
            </a:pPr>
            <a:r>
              <a:rPr sz="850" b="0" i="0">
                <a:solidFill>
                  <a:srgbClr val="000000"/>
                </a:solidFill>
                <a:latin typeface="Arial"/>
              </a:rPr>
              <a:t>ITES · UPSCALE · Working Package 4</a:t>
            </a:r>
          </a:p>
        </p:txBody>
      </p:sp>
      <p:sp>
        <p:nvSpPr>
          <p:cNvPr id="4" name="TextBox 3"/>
          <p:cNvSpPr txBox="1"/>
          <p:nvPr/>
        </p:nvSpPr>
        <p:spPr>
          <a:xfrm>
            <a:off x="9326880" y="6519672"/>
            <a:ext cx="1417320" cy="219456"/>
          </a:xfrm>
          <a:prstGeom prst="rect">
            <a:avLst/>
          </a:prstGeom>
          <a:noFill/>
        </p:spPr>
        <p:txBody>
          <a:bodyPr wrap="square" lIns="0" rIns="0" tIns="0" bIns="0" anchor="ctr">
            <a:spAutoFit/>
          </a:bodyPr>
          <a:lstStyle/>
          <a:p>
            <a:pPr algn="r">
              <a:lnSpc>
                <a:spcPct val="100000"/>
              </a:lnSpc>
            </a:pPr>
            <a:r>
              <a:rPr sz="850" b="0" i="0">
                <a:solidFill>
                  <a:srgbClr val="000000"/>
                </a:solidFill>
                <a:latin typeface="Arial"/>
              </a:rPr>
              <a:t>08.09.2026</a:t>
            </a:r>
          </a:p>
        </p:txBody>
      </p:sp>
      <p:sp>
        <p:nvSpPr>
          <p:cNvPr id="5" name="TextBox 4"/>
          <p:cNvSpPr txBox="1"/>
          <p:nvPr/>
        </p:nvSpPr>
        <p:spPr>
          <a:xfrm>
            <a:off x="11018520" y="6519672"/>
            <a:ext cx="411480" cy="219456"/>
          </a:xfrm>
          <a:prstGeom prst="rect">
            <a:avLst/>
          </a:prstGeom>
          <a:noFill/>
        </p:spPr>
        <p:txBody>
          <a:bodyPr wrap="square" lIns="0" rIns="0" tIns="0" bIns="0" anchor="ctr">
            <a:spAutoFit/>
          </a:bodyPr>
          <a:lstStyle/>
          <a:p>
            <a:pPr algn="ctr">
              <a:lnSpc>
                <a:spcPct val="100000"/>
              </a:lnSpc>
            </a:pPr>
            <a:r>
              <a:rPr sz="850" b="0" i="0">
                <a:solidFill>
                  <a:srgbClr val="000000"/>
                </a:solidFill>
                <a:latin typeface="Arial"/>
              </a:rPr>
              <a:t>8</a:t>
            </a:r>
          </a:p>
        </p:txBody>
      </p:sp>
      <p:sp>
        <p:nvSpPr>
          <p:cNvPr id="6" name="Rectangle 5"/>
          <p:cNvSpPr/>
          <p:nvPr/>
        </p:nvSpPr>
        <p:spPr>
          <a:xfrm>
            <a:off x="731520" y="1463040"/>
            <a:ext cx="10725912" cy="658368"/>
          </a:xfrm>
          <a:prstGeom prst="rect">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1463040"/>
            <a:ext cx="2148840" cy="658368"/>
          </a:xfrm>
          <a:prstGeom prst="rect">
            <a:avLst/>
          </a:prstGeom>
          <a:noFill/>
        </p:spPr>
        <p:txBody>
          <a:bodyPr wrap="square" lIns="0" rIns="0" tIns="0" bIns="0" anchor="ctr">
            <a:spAutoFit/>
          </a:bodyPr>
          <a:lstStyle/>
          <a:p>
            <a:pPr algn="l">
              <a:lnSpc>
                <a:spcPct val="100000"/>
              </a:lnSpc>
            </a:pPr>
            <a:r>
              <a:rPr sz="1150" b="1" i="0">
                <a:solidFill>
                  <a:srgbClr val="000000"/>
                </a:solidFill>
                <a:latin typeface="Arial"/>
              </a:rPr>
              <a:t>Mounted root</a:t>
            </a:r>
          </a:p>
        </p:txBody>
      </p:sp>
      <p:sp>
        <p:nvSpPr>
          <p:cNvPr id="8" name="TextBox 7"/>
          <p:cNvSpPr txBox="1"/>
          <p:nvPr/>
        </p:nvSpPr>
        <p:spPr>
          <a:xfrm>
            <a:off x="3017520" y="1463040"/>
            <a:ext cx="8165592" cy="658368"/>
          </a:xfrm>
          <a:prstGeom prst="rect">
            <a:avLst/>
          </a:prstGeom>
          <a:noFill/>
        </p:spPr>
        <p:txBody>
          <a:bodyPr wrap="square" lIns="0" rIns="0" tIns="0" bIns="0" anchor="ctr">
            <a:spAutoFit/>
          </a:bodyPr>
          <a:lstStyle/>
          <a:p>
            <a:pPr algn="l">
              <a:lnSpc>
                <a:spcPct val="100000"/>
              </a:lnSpc>
            </a:pPr>
            <a:r>
              <a:rPr sz="1100" b="1" i="0">
                <a:solidFill>
                  <a:srgbClr val="215CAF"/>
                </a:solidFill>
                <a:latin typeface="Courier New"/>
              </a:rPr>
              <a:t>/Volumes/upscale/working_package_4/terravault/</a:t>
            </a:r>
            <a:r>
              <a:rPr sz="1000" b="0" i="0">
                <a:solidFill>
                  <a:srgbClr val="6F6F6F"/>
                </a:solidFill>
                <a:latin typeface="Arial"/>
              </a:rPr>
              <a:t>      SMB share ites-formdata.ethz.ch/upscale</a:t>
            </a:r>
          </a:p>
        </p:txBody>
      </p:sp>
      <p:sp>
        <p:nvSpPr>
          <p:cNvPr id="9" name="Rectangle 8"/>
          <p:cNvSpPr/>
          <p:nvPr/>
        </p:nvSpPr>
        <p:spPr>
          <a:xfrm>
            <a:off x="731520" y="2194560"/>
            <a:ext cx="5225796" cy="352044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194560"/>
            <a:ext cx="5225796" cy="457200"/>
          </a:xfrm>
          <a:prstGeom prst="rect">
            <a:avLst/>
          </a:prstGeom>
          <a:solidFill>
            <a:srgbClr val="215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194560"/>
            <a:ext cx="4860036" cy="457200"/>
          </a:xfrm>
          <a:prstGeom prst="rect">
            <a:avLst/>
          </a:prstGeom>
          <a:noFill/>
        </p:spPr>
        <p:txBody>
          <a:bodyPr wrap="square" lIns="0" rIns="0" tIns="0" bIns="0" anchor="ctr">
            <a:spAutoFit/>
          </a:bodyPr>
          <a:lstStyle/>
          <a:p>
            <a:pPr algn="l">
              <a:lnSpc>
                <a:spcPct val="100000"/>
              </a:lnSpc>
            </a:pPr>
            <a:r>
              <a:rPr sz="1200" b="1" i="0">
                <a:solidFill>
                  <a:srgbClr val="FFFFFF"/>
                </a:solidFill>
                <a:latin typeface="Arial"/>
              </a:rPr>
              <a:t>Monthly composite rasters — the high-resolution product</a:t>
            </a:r>
          </a:p>
        </p:txBody>
      </p:sp>
      <p:sp>
        <p:nvSpPr>
          <p:cNvPr id="12" name="TextBox 11"/>
          <p:cNvSpPr txBox="1"/>
          <p:nvPr/>
        </p:nvSpPr>
        <p:spPr>
          <a:xfrm>
            <a:off x="950976" y="2761488"/>
            <a:ext cx="4860036" cy="219456"/>
          </a:xfrm>
          <a:prstGeom prst="rect">
            <a:avLst/>
          </a:prstGeom>
          <a:noFill/>
        </p:spPr>
        <p:txBody>
          <a:bodyPr wrap="square" lIns="0" rIns="0" tIns="0" bIns="0" anchor="t">
            <a:spAutoFit/>
          </a:bodyPr>
          <a:lstStyle/>
          <a:p>
            <a:pPr algn="l">
              <a:lnSpc>
                <a:spcPct val="100000"/>
              </a:lnSpc>
            </a:pPr>
            <a:r>
              <a:rPr sz="900" b="1" i="0">
                <a:solidFill>
                  <a:srgbClr val="215CAF"/>
                </a:solidFill>
                <a:latin typeface="Courier New"/>
              </a:rPr>
              <a:t>data/copernicus-monthly/year=2024/month=07/</a:t>
            </a:r>
          </a:p>
        </p:txBody>
      </p:sp>
      <p:sp>
        <p:nvSpPr>
          <p:cNvPr id="13" name="TextBox 12"/>
          <p:cNvSpPr txBox="1"/>
          <p:nvPr/>
        </p:nvSpPr>
        <p:spPr>
          <a:xfrm>
            <a:off x="1115568" y="3017520"/>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switzerland_copernicus_l2a_2024_07_20m_reflectance.tif</a:t>
            </a:r>
          </a:p>
        </p:txBody>
      </p:sp>
      <p:sp>
        <p:nvSpPr>
          <p:cNvPr id="14" name="TextBox 13"/>
          <p:cNvSpPr txBox="1"/>
          <p:nvPr/>
        </p:nvSpPr>
        <p:spPr>
          <a:xfrm>
            <a:off x="4539996" y="3017520"/>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2.3 GB</a:t>
            </a:r>
          </a:p>
        </p:txBody>
      </p:sp>
      <p:sp>
        <p:nvSpPr>
          <p:cNvPr id="15" name="TextBox 14"/>
          <p:cNvSpPr txBox="1"/>
          <p:nvPr/>
        </p:nvSpPr>
        <p:spPr>
          <a:xfrm>
            <a:off x="1115568" y="3255263"/>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switzerland_copernicus_l2a_2024_07_20m_indices.tif</a:t>
            </a:r>
          </a:p>
        </p:txBody>
      </p:sp>
      <p:sp>
        <p:nvSpPr>
          <p:cNvPr id="16" name="TextBox 15"/>
          <p:cNvSpPr txBox="1"/>
          <p:nvPr/>
        </p:nvSpPr>
        <p:spPr>
          <a:xfrm>
            <a:off x="4539996" y="3255263"/>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1.6 GB</a:t>
            </a:r>
          </a:p>
        </p:txBody>
      </p:sp>
      <p:sp>
        <p:nvSpPr>
          <p:cNvPr id="17" name="TextBox 16"/>
          <p:cNvSpPr txBox="1"/>
          <p:nvPr/>
        </p:nvSpPr>
        <p:spPr>
          <a:xfrm>
            <a:off x="1115568" y="3493007"/>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switzerland_copernicus_l2a_2024_07_20m.manifest.json</a:t>
            </a:r>
          </a:p>
        </p:txBody>
      </p:sp>
      <p:sp>
        <p:nvSpPr>
          <p:cNvPr id="18" name="TextBox 17"/>
          <p:cNvSpPr txBox="1"/>
          <p:nvPr/>
        </p:nvSpPr>
        <p:spPr>
          <a:xfrm>
            <a:off x="4539996" y="3493007"/>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51 KB</a:t>
            </a:r>
          </a:p>
        </p:txBody>
      </p:sp>
      <p:sp>
        <p:nvSpPr>
          <p:cNvPr id="19" name="TextBox 18"/>
          <p:cNvSpPr txBox="1"/>
          <p:nvPr/>
        </p:nvSpPr>
        <p:spPr>
          <a:xfrm>
            <a:off x="950976" y="3794759"/>
            <a:ext cx="4860036" cy="219456"/>
          </a:xfrm>
          <a:prstGeom prst="rect">
            <a:avLst/>
          </a:prstGeom>
          <a:noFill/>
        </p:spPr>
        <p:txBody>
          <a:bodyPr wrap="square" lIns="0" rIns="0" tIns="0" bIns="0" anchor="t">
            <a:spAutoFit/>
          </a:bodyPr>
          <a:lstStyle/>
          <a:p>
            <a:pPr algn="l">
              <a:lnSpc>
                <a:spcPct val="100000"/>
              </a:lnSpc>
            </a:pPr>
            <a:r>
              <a:rPr sz="900" b="1" i="0">
                <a:solidFill>
                  <a:srgbClr val="215CAF"/>
                </a:solidFill>
                <a:latin typeface="Courier New"/>
              </a:rPr>
              <a:t>data/swisseo-monthly/year=2024/month=07/</a:t>
            </a:r>
          </a:p>
        </p:txBody>
      </p:sp>
      <p:sp>
        <p:nvSpPr>
          <p:cNvPr id="20" name="TextBox 19"/>
          <p:cNvSpPr txBox="1"/>
          <p:nvPr/>
        </p:nvSpPr>
        <p:spPr>
          <a:xfrm>
            <a:off x="1115568" y="4050791"/>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switzerland_swisseo_s2_sr_2024_07_20m_reflectance.tif</a:t>
            </a:r>
          </a:p>
        </p:txBody>
      </p:sp>
      <p:sp>
        <p:nvSpPr>
          <p:cNvPr id="21" name="TextBox 20"/>
          <p:cNvSpPr txBox="1"/>
          <p:nvPr/>
        </p:nvSpPr>
        <p:spPr>
          <a:xfrm>
            <a:off x="4539996" y="4050791"/>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1.9 GB</a:t>
            </a:r>
          </a:p>
        </p:txBody>
      </p:sp>
      <p:sp>
        <p:nvSpPr>
          <p:cNvPr id="22" name="TextBox 21"/>
          <p:cNvSpPr txBox="1"/>
          <p:nvPr/>
        </p:nvSpPr>
        <p:spPr>
          <a:xfrm>
            <a:off x="1115568" y="4288536"/>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switzerland_swisseo_s2_sr_2024_07_20m_indices.tif</a:t>
            </a:r>
          </a:p>
        </p:txBody>
      </p:sp>
      <p:sp>
        <p:nvSpPr>
          <p:cNvPr id="23" name="TextBox 22"/>
          <p:cNvSpPr txBox="1"/>
          <p:nvPr/>
        </p:nvSpPr>
        <p:spPr>
          <a:xfrm>
            <a:off x="4539996" y="4288536"/>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1.7 GB</a:t>
            </a:r>
          </a:p>
        </p:txBody>
      </p:sp>
      <p:sp>
        <p:nvSpPr>
          <p:cNvPr id="24" name="TextBox 23"/>
          <p:cNvSpPr txBox="1"/>
          <p:nvPr/>
        </p:nvSpPr>
        <p:spPr>
          <a:xfrm>
            <a:off x="1115568" y="4526279"/>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switzerland_swisseo_s2_sr_2024_07_20m.manifest.json</a:t>
            </a:r>
          </a:p>
        </p:txBody>
      </p:sp>
      <p:sp>
        <p:nvSpPr>
          <p:cNvPr id="25" name="TextBox 24"/>
          <p:cNvSpPr txBox="1"/>
          <p:nvPr/>
        </p:nvSpPr>
        <p:spPr>
          <a:xfrm>
            <a:off x="4539996" y="4526279"/>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5.9 KB</a:t>
            </a:r>
          </a:p>
        </p:txBody>
      </p:sp>
      <p:sp>
        <p:nvSpPr>
          <p:cNvPr id="26" name="TextBox 25"/>
          <p:cNvSpPr txBox="1"/>
          <p:nvPr/>
        </p:nvSpPr>
        <p:spPr>
          <a:xfrm>
            <a:off x="950976" y="4828031"/>
            <a:ext cx="4860036" cy="219456"/>
          </a:xfrm>
          <a:prstGeom prst="rect">
            <a:avLst/>
          </a:prstGeom>
          <a:noFill/>
        </p:spPr>
        <p:txBody>
          <a:bodyPr wrap="square" lIns="0" rIns="0" tIns="0" bIns="0" anchor="t">
            <a:spAutoFit/>
          </a:bodyPr>
          <a:lstStyle/>
          <a:p>
            <a:pPr algn="l">
              <a:lnSpc>
                <a:spcPct val="100000"/>
              </a:lnSpc>
            </a:pPr>
            <a:r>
              <a:rPr sz="900" b="1" i="0">
                <a:solidFill>
                  <a:srgbClr val="215CAF"/>
                </a:solidFill>
                <a:latin typeface="Courier New"/>
              </a:rPr>
              <a:t>data/roi/</a:t>
            </a:r>
          </a:p>
        </p:txBody>
      </p:sp>
      <p:sp>
        <p:nvSpPr>
          <p:cNvPr id="27" name="TextBox 26"/>
          <p:cNvSpPr txBox="1"/>
          <p:nvPr/>
        </p:nvSpPr>
        <p:spPr>
          <a:xfrm>
            <a:off x="1115568" y="5084064"/>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switzerland-boundary.geojson</a:t>
            </a:r>
          </a:p>
        </p:txBody>
      </p:sp>
      <p:sp>
        <p:nvSpPr>
          <p:cNvPr id="28" name="TextBox 27"/>
          <p:cNvSpPr txBox="1"/>
          <p:nvPr/>
        </p:nvSpPr>
        <p:spPr>
          <a:xfrm>
            <a:off x="4539996" y="5084064"/>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4.3 MB</a:t>
            </a:r>
          </a:p>
        </p:txBody>
      </p:sp>
      <p:sp>
        <p:nvSpPr>
          <p:cNvPr id="29" name="Rectangle 28"/>
          <p:cNvSpPr/>
          <p:nvPr/>
        </p:nvSpPr>
        <p:spPr>
          <a:xfrm>
            <a:off x="6231636" y="2194560"/>
            <a:ext cx="5225796" cy="352044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194560"/>
            <a:ext cx="5225796"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1092" y="2194560"/>
            <a:ext cx="4860036" cy="457200"/>
          </a:xfrm>
          <a:prstGeom prst="rect">
            <a:avLst/>
          </a:prstGeom>
          <a:noFill/>
        </p:spPr>
        <p:txBody>
          <a:bodyPr wrap="square" lIns="0" rIns="0" tIns="0" bIns="0" anchor="ctr">
            <a:spAutoFit/>
          </a:bodyPr>
          <a:lstStyle/>
          <a:p>
            <a:pPr algn="l">
              <a:lnSpc>
                <a:spcPct val="100000"/>
              </a:lnSpc>
            </a:pPr>
            <a:r>
              <a:rPr sz="1200" b="1" i="0">
                <a:solidFill>
                  <a:srgbClr val="FFFFFF"/>
                </a:solidFill>
                <a:latin typeface="Arial"/>
              </a:rPr>
              <a:t>Report images — previews rendered from those rasters</a:t>
            </a:r>
          </a:p>
        </p:txBody>
      </p:sp>
      <p:sp>
        <p:nvSpPr>
          <p:cNvPr id="32" name="TextBox 31"/>
          <p:cNvSpPr txBox="1"/>
          <p:nvPr/>
        </p:nvSpPr>
        <p:spPr>
          <a:xfrm>
            <a:off x="6451092" y="2761488"/>
            <a:ext cx="4860036" cy="219456"/>
          </a:xfrm>
          <a:prstGeom prst="rect">
            <a:avLst/>
          </a:prstGeom>
          <a:noFill/>
        </p:spPr>
        <p:txBody>
          <a:bodyPr wrap="square" lIns="0" rIns="0" tIns="0" bIns="0" anchor="t">
            <a:spAutoFit/>
          </a:bodyPr>
          <a:lstStyle/>
          <a:p>
            <a:pPr algn="l">
              <a:lnSpc>
                <a:spcPct val="100000"/>
              </a:lnSpc>
            </a:pPr>
            <a:r>
              <a:rPr sz="900" b="1" i="0">
                <a:solidFill>
                  <a:srgbClr val="000000"/>
                </a:solidFill>
                <a:latin typeface="Courier New"/>
              </a:rPr>
              <a:t>reports/switzerland-monthly-2024/</a:t>
            </a:r>
          </a:p>
        </p:txBody>
      </p:sp>
      <p:sp>
        <p:nvSpPr>
          <p:cNvPr id="33" name="TextBox 32"/>
          <p:cNvSpPr txBox="1"/>
          <p:nvPr/>
        </p:nvSpPr>
        <p:spPr>
          <a:xfrm>
            <a:off x="6615683" y="3017520"/>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comparison-atlas-copernicus-vs-swisseo-2024-07.png</a:t>
            </a:r>
          </a:p>
        </p:txBody>
      </p:sp>
      <p:sp>
        <p:nvSpPr>
          <p:cNvPr id="34" name="TextBox 33"/>
          <p:cNvSpPr txBox="1"/>
          <p:nvPr/>
        </p:nvSpPr>
        <p:spPr>
          <a:xfrm>
            <a:off x="10040111" y="3017520"/>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2600×1600</a:t>
            </a:r>
          </a:p>
        </p:txBody>
      </p:sp>
      <p:sp>
        <p:nvSpPr>
          <p:cNvPr id="35" name="TextBox 34"/>
          <p:cNvSpPr txBox="1"/>
          <p:nvPr/>
        </p:nvSpPr>
        <p:spPr>
          <a:xfrm>
            <a:off x="6451092" y="3319271"/>
            <a:ext cx="4860036" cy="219456"/>
          </a:xfrm>
          <a:prstGeom prst="rect">
            <a:avLst/>
          </a:prstGeom>
          <a:noFill/>
        </p:spPr>
        <p:txBody>
          <a:bodyPr wrap="square" lIns="0" rIns="0" tIns="0" bIns="0" anchor="t">
            <a:spAutoFit/>
          </a:bodyPr>
          <a:lstStyle/>
          <a:p>
            <a:pPr algn="l">
              <a:lnSpc>
                <a:spcPct val="100000"/>
              </a:lnSpc>
            </a:pPr>
            <a:r>
              <a:rPr sz="900" b="1" i="0">
                <a:solidFill>
                  <a:srgbClr val="000000"/>
                </a:solidFill>
                <a:latin typeface="Courier New"/>
              </a:rPr>
              <a:t>  sources/sentinel-copernicus/year=2024/month=07/</a:t>
            </a:r>
          </a:p>
        </p:txBody>
      </p:sp>
      <p:sp>
        <p:nvSpPr>
          <p:cNvPr id="36" name="TextBox 35"/>
          <p:cNvSpPr txBox="1"/>
          <p:nvPr/>
        </p:nvSpPr>
        <p:spPr>
          <a:xfrm>
            <a:off x="6615683" y="3575303"/>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ndvi.png  gndvi.png  ndre.png  ndwi.png</a:t>
            </a:r>
          </a:p>
        </p:txBody>
      </p:sp>
      <p:sp>
        <p:nvSpPr>
          <p:cNvPr id="37" name="TextBox 36"/>
          <p:cNvSpPr txBox="1"/>
          <p:nvPr/>
        </p:nvSpPr>
        <p:spPr>
          <a:xfrm>
            <a:off x="10040111" y="3575303"/>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1600×1013</a:t>
            </a:r>
          </a:p>
        </p:txBody>
      </p:sp>
      <p:sp>
        <p:nvSpPr>
          <p:cNvPr id="38" name="TextBox 37"/>
          <p:cNvSpPr txBox="1"/>
          <p:nvPr/>
        </p:nvSpPr>
        <p:spPr>
          <a:xfrm>
            <a:off x="6451092" y="3877055"/>
            <a:ext cx="4860036" cy="219456"/>
          </a:xfrm>
          <a:prstGeom prst="rect">
            <a:avLst/>
          </a:prstGeom>
          <a:noFill/>
        </p:spPr>
        <p:txBody>
          <a:bodyPr wrap="square" lIns="0" rIns="0" tIns="0" bIns="0" anchor="t">
            <a:spAutoFit/>
          </a:bodyPr>
          <a:lstStyle/>
          <a:p>
            <a:pPr algn="l">
              <a:lnSpc>
                <a:spcPct val="100000"/>
              </a:lnSpc>
            </a:pPr>
            <a:r>
              <a:rPr sz="900" b="1" i="0">
                <a:solidFill>
                  <a:srgbClr val="000000"/>
                </a:solidFill>
                <a:latin typeface="Courier New"/>
              </a:rPr>
              <a:t>  sources/swisseo/year=2024/month=07/</a:t>
            </a:r>
          </a:p>
        </p:txBody>
      </p:sp>
      <p:sp>
        <p:nvSpPr>
          <p:cNvPr id="39" name="TextBox 38"/>
          <p:cNvSpPr txBox="1"/>
          <p:nvPr/>
        </p:nvSpPr>
        <p:spPr>
          <a:xfrm>
            <a:off x="6615683" y="4133087"/>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ndvi.png  gndvi.png  ndre.png  ndwi.png</a:t>
            </a:r>
          </a:p>
        </p:txBody>
      </p:sp>
      <p:sp>
        <p:nvSpPr>
          <p:cNvPr id="40" name="TextBox 39"/>
          <p:cNvSpPr txBox="1"/>
          <p:nvPr/>
        </p:nvSpPr>
        <p:spPr>
          <a:xfrm>
            <a:off x="10040111" y="4133087"/>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1600×1013</a:t>
            </a:r>
          </a:p>
        </p:txBody>
      </p:sp>
      <p:sp>
        <p:nvSpPr>
          <p:cNvPr id="41" name="TextBox 40"/>
          <p:cNvSpPr txBox="1"/>
          <p:nvPr/>
        </p:nvSpPr>
        <p:spPr>
          <a:xfrm>
            <a:off x="6451092" y="4434840"/>
            <a:ext cx="4860036" cy="219456"/>
          </a:xfrm>
          <a:prstGeom prst="rect">
            <a:avLst/>
          </a:prstGeom>
          <a:noFill/>
        </p:spPr>
        <p:txBody>
          <a:bodyPr wrap="square" lIns="0" rIns="0" tIns="0" bIns="0" anchor="t">
            <a:spAutoFit/>
          </a:bodyPr>
          <a:lstStyle/>
          <a:p>
            <a:pPr algn="l">
              <a:lnSpc>
                <a:spcPct val="100000"/>
              </a:lnSpc>
            </a:pPr>
            <a:r>
              <a:rPr sz="900" b="1" i="0">
                <a:solidFill>
                  <a:srgbClr val="000000"/>
                </a:solidFill>
                <a:latin typeface="Courier New"/>
              </a:rPr>
              <a:t>  sources/*/year=2024/month=07/</a:t>
            </a:r>
          </a:p>
        </p:txBody>
      </p:sp>
      <p:sp>
        <p:nvSpPr>
          <p:cNvPr id="42" name="TextBox 41"/>
          <p:cNvSpPr txBox="1"/>
          <p:nvPr/>
        </p:nvSpPr>
        <p:spPr>
          <a:xfrm>
            <a:off x="6615683" y="4690872"/>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summary.json</a:t>
            </a:r>
          </a:p>
        </p:txBody>
      </p:sp>
      <p:sp>
        <p:nvSpPr>
          <p:cNvPr id="43" name="TextBox 42"/>
          <p:cNvSpPr txBox="1"/>
          <p:nvPr/>
        </p:nvSpPr>
        <p:spPr>
          <a:xfrm>
            <a:off x="10040111" y="4690872"/>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per-source stats</a:t>
            </a:r>
          </a:p>
        </p:txBody>
      </p:sp>
      <p:sp>
        <p:nvSpPr>
          <p:cNvPr id="44" name="TextBox 43"/>
          <p:cNvSpPr txBox="1"/>
          <p:nvPr/>
        </p:nvSpPr>
        <p:spPr>
          <a:xfrm>
            <a:off x="6451092" y="4992624"/>
            <a:ext cx="4860036" cy="219456"/>
          </a:xfrm>
          <a:prstGeom prst="rect">
            <a:avLst/>
          </a:prstGeom>
          <a:noFill/>
        </p:spPr>
        <p:txBody>
          <a:bodyPr wrap="square" lIns="0" rIns="0" tIns="0" bIns="0" anchor="t">
            <a:spAutoFit/>
          </a:bodyPr>
          <a:lstStyle/>
          <a:p>
            <a:pPr algn="l">
              <a:lnSpc>
                <a:spcPct val="100000"/>
              </a:lnSpc>
            </a:pPr>
            <a:r>
              <a:rPr sz="900" b="1" i="0">
                <a:solidFill>
                  <a:srgbClr val="000000"/>
                </a:solidFill>
                <a:latin typeface="Courier New"/>
              </a:rPr>
              <a:t>logs/</a:t>
            </a:r>
          </a:p>
        </p:txBody>
      </p:sp>
      <p:sp>
        <p:nvSpPr>
          <p:cNvPr id="45" name="TextBox 44"/>
          <p:cNvSpPr txBox="1"/>
          <p:nvPr/>
        </p:nvSpPr>
        <p:spPr>
          <a:xfrm>
            <a:off x="6615683" y="5248656"/>
            <a:ext cx="3625596" cy="219456"/>
          </a:xfrm>
          <a:prstGeom prst="rect">
            <a:avLst/>
          </a:prstGeom>
          <a:noFill/>
        </p:spPr>
        <p:txBody>
          <a:bodyPr wrap="square" lIns="0" rIns="0" tIns="0" bIns="0" anchor="t">
            <a:spAutoFit/>
          </a:bodyPr>
          <a:lstStyle/>
          <a:p>
            <a:pPr algn="l">
              <a:lnSpc>
                <a:spcPct val="100000"/>
              </a:lnSpc>
            </a:pPr>
            <a:r>
              <a:rPr sz="850" b="0" i="0">
                <a:solidFill>
                  <a:srgbClr val="1A1A1A"/>
                </a:solidFill>
                <a:latin typeface="Courier New"/>
              </a:rPr>
              <a:t>copernicus-*-2024-07.log  swisseo-2024-07.log</a:t>
            </a:r>
          </a:p>
        </p:txBody>
      </p:sp>
      <p:sp>
        <p:nvSpPr>
          <p:cNvPr id="46" name="TextBox 45"/>
          <p:cNvSpPr txBox="1"/>
          <p:nvPr/>
        </p:nvSpPr>
        <p:spPr>
          <a:xfrm>
            <a:off x="10040111" y="5248656"/>
            <a:ext cx="1188720" cy="219456"/>
          </a:xfrm>
          <a:prstGeom prst="rect">
            <a:avLst/>
          </a:prstGeom>
          <a:noFill/>
        </p:spPr>
        <p:txBody>
          <a:bodyPr wrap="square" lIns="0" rIns="0" tIns="0" bIns="0" anchor="t">
            <a:spAutoFit/>
          </a:bodyPr>
          <a:lstStyle/>
          <a:p>
            <a:pPr algn="r">
              <a:lnSpc>
                <a:spcPct val="100000"/>
              </a:lnSpc>
            </a:pPr>
            <a:r>
              <a:rPr sz="850" b="0" i="0">
                <a:solidFill>
                  <a:srgbClr val="6F6F6F"/>
                </a:solidFill>
                <a:latin typeface="Arial"/>
              </a:rPr>
              <a:t>run logs</a:t>
            </a:r>
          </a:p>
        </p:txBody>
      </p:sp>
      <p:sp>
        <p:nvSpPr>
          <p:cNvPr id="47" name="TextBox 46"/>
          <p:cNvSpPr txBox="1"/>
          <p:nvPr/>
        </p:nvSpPr>
        <p:spPr>
          <a:xfrm>
            <a:off x="731520" y="6126480"/>
            <a:ext cx="10725912" cy="237744"/>
          </a:xfrm>
          <a:prstGeom prst="rect">
            <a:avLst/>
          </a:prstGeom>
          <a:noFill/>
        </p:spPr>
        <p:txBody>
          <a:bodyPr wrap="square" lIns="0" rIns="0" tIns="0" bIns="0" anchor="t">
            <a:spAutoFit/>
          </a:bodyPr>
          <a:lstStyle/>
          <a:p>
            <a:pPr algn="l">
              <a:lnSpc>
                <a:spcPct val="100000"/>
              </a:lnSpc>
            </a:pPr>
            <a:r>
              <a:rPr sz="1000" b="0" i="1">
                <a:solidFill>
                  <a:srgbClr val="6F6F6F"/>
                </a:solidFill>
                <a:latin typeface="Arial"/>
              </a:rPr>
              <a:t>Reflectance rasters carry B03, B04, B05, B08, B8A and B11; index rasters carry NDVI, GNDVI, NDRE and NDWI. Every path needs the upscale share mounted.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FORCE was run, then excluded</a:t>
            </a:r>
          </a:p>
        </p:txBody>
      </p:sp>
      <p:sp>
        <p:nvSpPr>
          <p:cNvPr id="3" name="TextBox 2"/>
          <p:cNvSpPr txBox="1"/>
          <p:nvPr/>
        </p:nvSpPr>
        <p:spPr>
          <a:xfrm>
            <a:off x="2176272" y="6519672"/>
            <a:ext cx="5404104" cy="219456"/>
          </a:xfrm>
          <a:prstGeom prst="rect">
            <a:avLst/>
          </a:prstGeom>
          <a:noFill/>
        </p:spPr>
        <p:txBody>
          <a:bodyPr wrap="square" lIns="0" rIns="0" tIns="0" bIns="0" anchor="ctr">
            <a:spAutoFit/>
          </a:bodyPr>
          <a:lstStyle/>
          <a:p>
            <a:pPr algn="l">
              <a:lnSpc>
                <a:spcPct val="100000"/>
              </a:lnSpc>
            </a:pPr>
            <a:r>
              <a:rPr sz="850" b="0" i="0">
                <a:solidFill>
                  <a:srgbClr val="000000"/>
                </a:solidFill>
                <a:latin typeface="Arial"/>
              </a:rPr>
              <a:t>ITES · UPSCALE · Working Package 4</a:t>
            </a:r>
          </a:p>
        </p:txBody>
      </p:sp>
      <p:sp>
        <p:nvSpPr>
          <p:cNvPr id="4" name="TextBox 3"/>
          <p:cNvSpPr txBox="1"/>
          <p:nvPr/>
        </p:nvSpPr>
        <p:spPr>
          <a:xfrm>
            <a:off x="9326880" y="6519672"/>
            <a:ext cx="1417320" cy="219456"/>
          </a:xfrm>
          <a:prstGeom prst="rect">
            <a:avLst/>
          </a:prstGeom>
          <a:noFill/>
        </p:spPr>
        <p:txBody>
          <a:bodyPr wrap="square" lIns="0" rIns="0" tIns="0" bIns="0" anchor="ctr">
            <a:spAutoFit/>
          </a:bodyPr>
          <a:lstStyle/>
          <a:p>
            <a:pPr algn="r">
              <a:lnSpc>
                <a:spcPct val="100000"/>
              </a:lnSpc>
            </a:pPr>
            <a:r>
              <a:rPr sz="850" b="0" i="0">
                <a:solidFill>
                  <a:srgbClr val="000000"/>
                </a:solidFill>
                <a:latin typeface="Arial"/>
              </a:rPr>
              <a:t>08.09.2026</a:t>
            </a:r>
          </a:p>
        </p:txBody>
      </p:sp>
      <p:sp>
        <p:nvSpPr>
          <p:cNvPr id="5" name="TextBox 4"/>
          <p:cNvSpPr txBox="1"/>
          <p:nvPr/>
        </p:nvSpPr>
        <p:spPr>
          <a:xfrm>
            <a:off x="11018520" y="6519672"/>
            <a:ext cx="411480" cy="219456"/>
          </a:xfrm>
          <a:prstGeom prst="rect">
            <a:avLst/>
          </a:prstGeom>
          <a:noFill/>
        </p:spPr>
        <p:txBody>
          <a:bodyPr wrap="square" lIns="0" rIns="0" tIns="0" bIns="0" anchor="ctr">
            <a:spAutoFit/>
          </a:bodyPr>
          <a:lstStyle/>
          <a:p>
            <a:pPr algn="ctr">
              <a:lnSpc>
                <a:spcPct val="100000"/>
              </a:lnSpc>
            </a:pPr>
            <a:r>
              <a:rPr sz="850" b="0" i="0">
                <a:solidFill>
                  <a:srgbClr val="000000"/>
                </a:solidFill>
                <a:latin typeface="Arial"/>
              </a:rPr>
              <a:t>9</a:t>
            </a:r>
          </a:p>
        </p:txBody>
      </p:sp>
      <p:sp>
        <p:nvSpPr>
          <p:cNvPr id="6" name="TextBox 5"/>
          <p:cNvSpPr txBox="1"/>
          <p:nvPr/>
        </p:nvSpPr>
        <p:spPr>
          <a:xfrm>
            <a:off x="731520" y="1481328"/>
            <a:ext cx="10725912" cy="502920"/>
          </a:xfrm>
          <a:prstGeom prst="rect">
            <a:avLst/>
          </a:prstGeom>
          <a:noFill/>
        </p:spPr>
        <p:txBody>
          <a:bodyPr wrap="square" lIns="0" rIns="0" tIns="0" bIns="0" anchor="t">
            <a:spAutoFit/>
          </a:bodyPr>
          <a:lstStyle/>
          <a:p>
            <a:pPr algn="l">
              <a:lnSpc>
                <a:spcPct val="100000"/>
              </a:lnSpc>
            </a:pPr>
            <a:r>
              <a:rPr sz="1400" b="0" i="0">
                <a:solidFill>
                  <a:srgbClr val="1A1A1A"/>
                </a:solidFill>
                <a:latin typeface="Arial"/>
              </a:rPr>
              <a:t>FORCE was genuinely executed for July 2024. Level-2 processing completed; the monthly national aggregation did not.</a:t>
            </a:r>
          </a:p>
        </p:txBody>
      </p:sp>
      <p:sp>
        <p:nvSpPr>
          <p:cNvPr id="7" name="Rectangle 6"/>
          <p:cNvSpPr/>
          <p:nvPr/>
        </p:nvSpPr>
        <p:spPr>
          <a:xfrm>
            <a:off x="731520" y="2148840"/>
            <a:ext cx="10725912" cy="120700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Check-215CAF.png"/>
          <p:cNvPicPr>
            <a:picLocks noChangeAspect="1"/>
          </p:cNvPicPr>
          <p:nvPr/>
        </p:nvPicPr>
        <p:blipFill>
          <a:blip r:embed="rId2"/>
          <a:stretch>
            <a:fillRect/>
          </a:stretch>
        </p:blipFill>
        <p:spPr>
          <a:xfrm>
            <a:off x="987552" y="2350008"/>
            <a:ext cx="329184" cy="329184"/>
          </a:xfrm>
          <a:prstGeom prst="rect">
            <a:avLst/>
          </a:prstGeom>
        </p:spPr>
      </p:pic>
      <p:sp>
        <p:nvSpPr>
          <p:cNvPr id="9" name="TextBox 8"/>
          <p:cNvSpPr txBox="1"/>
          <p:nvPr/>
        </p:nvSpPr>
        <p:spPr>
          <a:xfrm>
            <a:off x="1517904" y="2313432"/>
            <a:ext cx="2377440" cy="329184"/>
          </a:xfrm>
          <a:prstGeom prst="rect">
            <a:avLst/>
          </a:prstGeom>
          <a:noFill/>
        </p:spPr>
        <p:txBody>
          <a:bodyPr wrap="square" lIns="0" rIns="0" tIns="0" bIns="0" anchor="t">
            <a:spAutoFit/>
          </a:bodyPr>
          <a:lstStyle/>
          <a:p>
            <a:pPr algn="l">
              <a:lnSpc>
                <a:spcPct val="100000"/>
              </a:lnSpc>
            </a:pPr>
            <a:r>
              <a:rPr sz="1300" b="1" i="0">
                <a:solidFill>
                  <a:srgbClr val="000000"/>
                </a:solidFill>
                <a:latin typeface="Arial"/>
              </a:rPr>
              <a:t>What completed</a:t>
            </a:r>
          </a:p>
        </p:txBody>
      </p:sp>
      <p:sp>
        <p:nvSpPr>
          <p:cNvPr id="10" name="TextBox 9"/>
          <p:cNvSpPr txBox="1"/>
          <p:nvPr/>
        </p:nvSpPr>
        <p:spPr>
          <a:xfrm>
            <a:off x="1517904" y="2679192"/>
            <a:ext cx="9674352" cy="566928"/>
          </a:xfrm>
          <a:prstGeom prst="rect">
            <a:avLst/>
          </a:prstGeom>
          <a:noFill/>
        </p:spPr>
        <p:txBody>
          <a:bodyPr wrap="square" lIns="0" rIns="0" tIns="0" bIns="0" anchor="t">
            <a:spAutoFit/>
          </a:bodyPr>
          <a:lstStyle/>
          <a:p>
            <a:pPr algn="l">
              <a:lnSpc>
                <a:spcPct val="95000"/>
              </a:lnSpc>
            </a:pPr>
            <a:r>
              <a:rPr sz="1100" b="0" i="0">
                <a:solidFill>
                  <a:srgbClr val="1A1A1A"/>
                </a:solidFill>
                <a:latin typeface="Arial"/>
              </a:rPr>
              <a:t>Native ARM64 FORCE processed all 83 Sentinel-2 L1C tile-scenes to Level-2, giving 83 BOA/QAI scene mosaics and 1,403 FORCE 30 km tiles. One corrupt B12 JP2 was re-fetched from the public AWS archive, validated and reprocessed.</a:t>
            </a:r>
          </a:p>
        </p:txBody>
      </p:sp>
      <p:sp>
        <p:nvSpPr>
          <p:cNvPr id="11" name="Rectangle 10"/>
          <p:cNvSpPr/>
          <p:nvPr/>
        </p:nvSpPr>
        <p:spPr>
          <a:xfrm>
            <a:off x="731520" y="3538728"/>
            <a:ext cx="10725912" cy="1207008"/>
          </a:xfrm>
          <a:prstGeom prst="rect">
            <a:avLst/>
          </a:prstGeom>
          <a:solidFill>
            <a:srgbClr val="F8E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aExclamationCircle-B7352D.png"/>
          <p:cNvPicPr>
            <a:picLocks noChangeAspect="1"/>
          </p:cNvPicPr>
          <p:nvPr/>
        </p:nvPicPr>
        <p:blipFill>
          <a:blip r:embed="rId3"/>
          <a:stretch>
            <a:fillRect/>
          </a:stretch>
        </p:blipFill>
        <p:spPr>
          <a:xfrm>
            <a:off x="987552" y="3739896"/>
            <a:ext cx="329184" cy="329184"/>
          </a:xfrm>
          <a:prstGeom prst="rect">
            <a:avLst/>
          </a:prstGeom>
        </p:spPr>
      </p:pic>
      <p:sp>
        <p:nvSpPr>
          <p:cNvPr id="13" name="TextBox 12"/>
          <p:cNvSpPr txBox="1"/>
          <p:nvPr/>
        </p:nvSpPr>
        <p:spPr>
          <a:xfrm>
            <a:off x="1517904" y="3703320"/>
            <a:ext cx="2377440" cy="329184"/>
          </a:xfrm>
          <a:prstGeom prst="rect">
            <a:avLst/>
          </a:prstGeom>
          <a:noFill/>
        </p:spPr>
        <p:txBody>
          <a:bodyPr wrap="square" lIns="0" rIns="0" tIns="0" bIns="0" anchor="t">
            <a:spAutoFit/>
          </a:bodyPr>
          <a:lstStyle/>
          <a:p>
            <a:pPr algn="l">
              <a:lnSpc>
                <a:spcPct val="100000"/>
              </a:lnSpc>
            </a:pPr>
            <a:r>
              <a:rPr sz="1300" b="1" i="0">
                <a:solidFill>
                  <a:srgbClr val="000000"/>
                </a:solidFill>
                <a:latin typeface="Arial"/>
              </a:rPr>
              <a:t>Where it stopped</a:t>
            </a:r>
          </a:p>
        </p:txBody>
      </p:sp>
      <p:sp>
        <p:nvSpPr>
          <p:cNvPr id="14" name="TextBox 13"/>
          <p:cNvSpPr txBox="1"/>
          <p:nvPr/>
        </p:nvSpPr>
        <p:spPr>
          <a:xfrm>
            <a:off x="1517904" y="4069080"/>
            <a:ext cx="9674352" cy="566928"/>
          </a:xfrm>
          <a:prstGeom prst="rect">
            <a:avLst/>
          </a:prstGeom>
          <a:noFill/>
        </p:spPr>
        <p:txBody>
          <a:bodyPr wrap="square" lIns="0" rIns="0" tIns="0" bIns="0" anchor="t">
            <a:spAutoFit/>
          </a:bodyPr>
          <a:lstStyle/>
          <a:p>
            <a:pPr algn="l">
              <a:lnSpc>
                <a:spcPct val="95000"/>
              </a:lnSpc>
            </a:pPr>
            <a:r>
              <a:rPr sz="1100" b="0" i="0">
                <a:solidFill>
                  <a:srgbClr val="1A1A1A"/>
                </a:solidFill>
                <a:latin typeface="Arial"/>
              </a:rPr>
              <a:t>The monthly aggregation screened all 83 scenes, then materialised a six-band Float32 raster per scene and computed the median over the full 51,000 × 45,000-pixel union grid before clipping to Switzerland. It failed with “No space left on device”.</a:t>
            </a:r>
          </a:p>
        </p:txBody>
      </p:sp>
      <p:sp>
        <p:nvSpPr>
          <p:cNvPr id="15" name="Rectangle 14"/>
          <p:cNvSpPr/>
          <p:nvPr/>
        </p:nvSpPr>
        <p:spPr>
          <a:xfrm>
            <a:off x="731520" y="4892040"/>
            <a:ext cx="2516886" cy="84124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4965192"/>
            <a:ext cx="2224278" cy="347472"/>
          </a:xfrm>
          <a:prstGeom prst="rect">
            <a:avLst/>
          </a:prstGeom>
          <a:noFill/>
        </p:spPr>
        <p:txBody>
          <a:bodyPr wrap="square" lIns="0" rIns="0" tIns="0" bIns="0" anchor="t">
            <a:spAutoFit/>
          </a:bodyPr>
          <a:lstStyle/>
          <a:p>
            <a:pPr algn="l">
              <a:lnSpc>
                <a:spcPct val="100000"/>
              </a:lnSpc>
            </a:pPr>
            <a:r>
              <a:rPr sz="1600" b="1" i="0">
                <a:solidFill>
                  <a:srgbClr val="B7352D"/>
                </a:solidFill>
                <a:latin typeface="Arial"/>
              </a:rPr>
              <a:t>129 GB</a:t>
            </a:r>
          </a:p>
        </p:txBody>
      </p:sp>
      <p:sp>
        <p:nvSpPr>
          <p:cNvPr id="17" name="TextBox 16"/>
          <p:cNvSpPr txBox="1"/>
          <p:nvPr/>
        </p:nvSpPr>
        <p:spPr>
          <a:xfrm>
            <a:off x="877824" y="5349240"/>
            <a:ext cx="2224278" cy="329184"/>
          </a:xfrm>
          <a:prstGeom prst="rect">
            <a:avLst/>
          </a:prstGeom>
          <a:noFill/>
        </p:spPr>
        <p:txBody>
          <a:bodyPr wrap="square" lIns="0" rIns="0" tIns="0" bIns="0" anchor="t">
            <a:spAutoFit/>
          </a:bodyPr>
          <a:lstStyle/>
          <a:p>
            <a:pPr algn="l">
              <a:lnSpc>
                <a:spcPct val="92000"/>
              </a:lnSpc>
            </a:pPr>
            <a:r>
              <a:rPr sz="1000" b="0" i="0">
                <a:solidFill>
                  <a:srgbClr val="6F6F6F"/>
                </a:solidFill>
                <a:latin typeface="Arial"/>
              </a:rPr>
              <a:t>Level-2 BOA/QAI inputs</a:t>
            </a:r>
          </a:p>
        </p:txBody>
      </p:sp>
      <p:sp>
        <p:nvSpPr>
          <p:cNvPr id="18" name="Rectangle 17"/>
          <p:cNvSpPr/>
          <p:nvPr/>
        </p:nvSpPr>
        <p:spPr>
          <a:xfrm>
            <a:off x="3467861" y="4892040"/>
            <a:ext cx="2516886" cy="84124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4165" y="4965192"/>
            <a:ext cx="2224278" cy="347472"/>
          </a:xfrm>
          <a:prstGeom prst="rect">
            <a:avLst/>
          </a:prstGeom>
          <a:noFill/>
        </p:spPr>
        <p:txBody>
          <a:bodyPr wrap="square" lIns="0" rIns="0" tIns="0" bIns="0" anchor="t">
            <a:spAutoFit/>
          </a:bodyPr>
          <a:lstStyle/>
          <a:p>
            <a:pPr algn="l">
              <a:lnSpc>
                <a:spcPct val="100000"/>
              </a:lnSpc>
            </a:pPr>
            <a:r>
              <a:rPr sz="1600" b="1" i="0">
                <a:solidFill>
                  <a:srgbClr val="B7352D"/>
                </a:solidFill>
                <a:latin typeface="Arial"/>
              </a:rPr>
              <a:t>247 GB</a:t>
            </a:r>
          </a:p>
        </p:txBody>
      </p:sp>
      <p:sp>
        <p:nvSpPr>
          <p:cNvPr id="20" name="TextBox 19"/>
          <p:cNvSpPr txBox="1"/>
          <p:nvPr/>
        </p:nvSpPr>
        <p:spPr>
          <a:xfrm>
            <a:off x="3614165" y="5349240"/>
            <a:ext cx="2224278" cy="329184"/>
          </a:xfrm>
          <a:prstGeom prst="rect">
            <a:avLst/>
          </a:prstGeom>
          <a:noFill/>
        </p:spPr>
        <p:txBody>
          <a:bodyPr wrap="square" lIns="0" rIns="0" tIns="0" bIns="0" anchor="t">
            <a:spAutoFit/>
          </a:bodyPr>
          <a:lstStyle/>
          <a:p>
            <a:pPr algn="l">
              <a:lnSpc>
                <a:spcPct val="92000"/>
              </a:lnSpc>
            </a:pPr>
            <a:r>
              <a:rPr sz="1000" b="0" i="0">
                <a:solidFill>
                  <a:srgbClr val="6F6F6F"/>
                </a:solidFill>
                <a:latin typeface="Arial"/>
              </a:rPr>
              <a:t>83 screened temporary rasters</a:t>
            </a:r>
          </a:p>
        </p:txBody>
      </p:sp>
      <p:sp>
        <p:nvSpPr>
          <p:cNvPr id="21" name="Rectangle 20"/>
          <p:cNvSpPr/>
          <p:nvPr/>
        </p:nvSpPr>
        <p:spPr>
          <a:xfrm>
            <a:off x="6204203" y="4892040"/>
            <a:ext cx="2516886" cy="84124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507" y="4965192"/>
            <a:ext cx="2224278" cy="347472"/>
          </a:xfrm>
          <a:prstGeom prst="rect">
            <a:avLst/>
          </a:prstGeom>
          <a:noFill/>
        </p:spPr>
        <p:txBody>
          <a:bodyPr wrap="square" lIns="0" rIns="0" tIns="0" bIns="0" anchor="t">
            <a:spAutoFit/>
          </a:bodyPr>
          <a:lstStyle/>
          <a:p>
            <a:pPr algn="l">
              <a:lnSpc>
                <a:spcPct val="100000"/>
              </a:lnSpc>
            </a:pPr>
            <a:r>
              <a:rPr sz="1600" b="1" i="0">
                <a:solidFill>
                  <a:srgbClr val="B7352D"/>
                </a:solidFill>
                <a:latin typeface="Arial"/>
              </a:rPr>
              <a:t>&gt; 58 GB</a:t>
            </a:r>
          </a:p>
        </p:txBody>
      </p:sp>
      <p:sp>
        <p:nvSpPr>
          <p:cNvPr id="23" name="TextBox 22"/>
          <p:cNvSpPr txBox="1"/>
          <p:nvPr/>
        </p:nvSpPr>
        <p:spPr>
          <a:xfrm>
            <a:off x="6350507" y="5349240"/>
            <a:ext cx="2224278" cy="329184"/>
          </a:xfrm>
          <a:prstGeom prst="rect">
            <a:avLst/>
          </a:prstGeom>
          <a:noFill/>
        </p:spPr>
        <p:txBody>
          <a:bodyPr wrap="square" lIns="0" rIns="0" tIns="0" bIns="0" anchor="t">
            <a:spAutoFit/>
          </a:bodyPr>
          <a:lstStyle/>
          <a:p>
            <a:pPr algn="l">
              <a:lnSpc>
                <a:spcPct val="92000"/>
              </a:lnSpc>
            </a:pPr>
            <a:r>
              <a:rPr sz="1000" b="0" i="0">
                <a:solidFill>
                  <a:srgbClr val="6F6F6F"/>
                </a:solidFill>
                <a:latin typeface="Arial"/>
              </a:rPr>
              <a:t>union-grid median at failure</a:t>
            </a:r>
          </a:p>
        </p:txBody>
      </p:sp>
      <p:sp>
        <p:nvSpPr>
          <p:cNvPr id="24" name="Rectangle 23"/>
          <p:cNvSpPr/>
          <p:nvPr/>
        </p:nvSpPr>
        <p:spPr>
          <a:xfrm>
            <a:off x="8940546" y="4892040"/>
            <a:ext cx="2516886" cy="84124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6850" y="4965192"/>
            <a:ext cx="2224278" cy="347472"/>
          </a:xfrm>
          <a:prstGeom prst="rect">
            <a:avLst/>
          </a:prstGeom>
          <a:noFill/>
        </p:spPr>
        <p:txBody>
          <a:bodyPr wrap="square" lIns="0" rIns="0" tIns="0" bIns="0" anchor="t">
            <a:spAutoFit/>
          </a:bodyPr>
          <a:lstStyle/>
          <a:p>
            <a:pPr algn="l">
              <a:lnSpc>
                <a:spcPct val="100000"/>
              </a:lnSpc>
            </a:pPr>
            <a:r>
              <a:rPr sz="1600" b="1" i="0">
                <a:solidFill>
                  <a:srgbClr val="B7352D"/>
                </a:solidFill>
                <a:latin typeface="Arial"/>
              </a:rPr>
              <a:t>&gt; 434 GB</a:t>
            </a:r>
          </a:p>
        </p:txBody>
      </p:sp>
      <p:sp>
        <p:nvSpPr>
          <p:cNvPr id="26" name="TextBox 25"/>
          <p:cNvSpPr txBox="1"/>
          <p:nvPr/>
        </p:nvSpPr>
        <p:spPr>
          <a:xfrm>
            <a:off x="9086850" y="5349240"/>
            <a:ext cx="2224278" cy="329184"/>
          </a:xfrm>
          <a:prstGeom prst="rect">
            <a:avLst/>
          </a:prstGeom>
          <a:noFill/>
        </p:spPr>
        <p:txBody>
          <a:bodyPr wrap="square" lIns="0" rIns="0" tIns="0" bIns="0" anchor="t">
            <a:spAutoFit/>
          </a:bodyPr>
          <a:lstStyle/>
          <a:p>
            <a:pPr algn="l">
              <a:lnSpc>
                <a:spcPct val="92000"/>
              </a:lnSpc>
            </a:pPr>
            <a:r>
              <a:rPr sz="1000" b="0" i="0">
                <a:solidFill>
                  <a:srgbClr val="6F6F6F"/>
                </a:solidFill>
                <a:latin typeface="Arial"/>
              </a:rPr>
              <a:t>workspace observed near failure</a:t>
            </a:r>
          </a:p>
        </p:txBody>
      </p:sp>
      <p:sp>
        <p:nvSpPr>
          <p:cNvPr id="27" name="TextBox 26"/>
          <p:cNvSpPr txBox="1"/>
          <p:nvPr/>
        </p:nvSpPr>
        <p:spPr>
          <a:xfrm>
            <a:off x="731520" y="6126480"/>
            <a:ext cx="10725912" cy="237744"/>
          </a:xfrm>
          <a:prstGeom prst="rect">
            <a:avLst/>
          </a:prstGeom>
          <a:noFill/>
        </p:spPr>
        <p:txBody>
          <a:bodyPr wrap="square" lIns="0" rIns="0" tIns="0" bIns="0" anchor="t">
            <a:spAutoFit/>
          </a:bodyPr>
          <a:lstStyle/>
          <a:p>
            <a:pPr algn="l">
              <a:lnSpc>
                <a:spcPct val="100000"/>
              </a:lnSpc>
            </a:pPr>
            <a:r>
              <a:rPr sz="1000" b="0" i="1">
                <a:solidFill>
                  <a:srgbClr val="6F6F6F"/>
                </a:solidFill>
                <a:latin typeface="Arial"/>
              </a:rPr>
              <a:t>Run started 02.09.2026 21:38 CEST and failed 03.09.2026 14:34 CEST — a July-only run; the cost came from full-grid intermediates.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FORCE: decision and conditions for a revisit</a:t>
            </a:r>
          </a:p>
        </p:txBody>
      </p:sp>
      <p:sp>
        <p:nvSpPr>
          <p:cNvPr id="3" name="TextBox 2"/>
          <p:cNvSpPr txBox="1"/>
          <p:nvPr/>
        </p:nvSpPr>
        <p:spPr>
          <a:xfrm>
            <a:off x="2176272" y="6519672"/>
            <a:ext cx="5404104" cy="219456"/>
          </a:xfrm>
          <a:prstGeom prst="rect">
            <a:avLst/>
          </a:prstGeom>
          <a:noFill/>
        </p:spPr>
        <p:txBody>
          <a:bodyPr wrap="square" lIns="0" rIns="0" tIns="0" bIns="0" anchor="ctr">
            <a:spAutoFit/>
          </a:bodyPr>
          <a:lstStyle/>
          <a:p>
            <a:pPr algn="l">
              <a:lnSpc>
                <a:spcPct val="100000"/>
              </a:lnSpc>
            </a:pPr>
            <a:r>
              <a:rPr sz="850" b="0" i="0">
                <a:solidFill>
                  <a:srgbClr val="000000"/>
                </a:solidFill>
                <a:latin typeface="Arial"/>
              </a:rPr>
              <a:t>ITES · UPSCALE · Working Package 4</a:t>
            </a:r>
          </a:p>
        </p:txBody>
      </p:sp>
      <p:sp>
        <p:nvSpPr>
          <p:cNvPr id="4" name="TextBox 3"/>
          <p:cNvSpPr txBox="1"/>
          <p:nvPr/>
        </p:nvSpPr>
        <p:spPr>
          <a:xfrm>
            <a:off x="9326880" y="6519672"/>
            <a:ext cx="1417320" cy="219456"/>
          </a:xfrm>
          <a:prstGeom prst="rect">
            <a:avLst/>
          </a:prstGeom>
          <a:noFill/>
        </p:spPr>
        <p:txBody>
          <a:bodyPr wrap="square" lIns="0" rIns="0" tIns="0" bIns="0" anchor="ctr">
            <a:spAutoFit/>
          </a:bodyPr>
          <a:lstStyle/>
          <a:p>
            <a:pPr algn="r">
              <a:lnSpc>
                <a:spcPct val="100000"/>
              </a:lnSpc>
            </a:pPr>
            <a:r>
              <a:rPr sz="850" b="0" i="0">
                <a:solidFill>
                  <a:srgbClr val="000000"/>
                </a:solidFill>
                <a:latin typeface="Arial"/>
              </a:rPr>
              <a:t>08.09.2026</a:t>
            </a:r>
          </a:p>
        </p:txBody>
      </p:sp>
      <p:sp>
        <p:nvSpPr>
          <p:cNvPr id="5" name="TextBox 4"/>
          <p:cNvSpPr txBox="1"/>
          <p:nvPr/>
        </p:nvSpPr>
        <p:spPr>
          <a:xfrm>
            <a:off x="11018520" y="6519672"/>
            <a:ext cx="411480" cy="219456"/>
          </a:xfrm>
          <a:prstGeom prst="rect">
            <a:avLst/>
          </a:prstGeom>
          <a:noFill/>
        </p:spPr>
        <p:txBody>
          <a:bodyPr wrap="square" lIns="0" rIns="0" tIns="0" bIns="0" anchor="ctr">
            <a:spAutoFit/>
          </a:bodyPr>
          <a:lstStyle/>
          <a:p>
            <a:pPr algn="ctr">
              <a:lnSpc>
                <a:spcPct val="100000"/>
              </a:lnSpc>
            </a:pPr>
            <a:r>
              <a:rPr sz="850" b="0" i="0">
                <a:solidFill>
                  <a:srgbClr val="000000"/>
                </a:solidFill>
                <a:latin typeface="Arial"/>
              </a:rPr>
              <a:t>10</a:t>
            </a:r>
          </a:p>
        </p:txBody>
      </p:sp>
      <p:sp>
        <p:nvSpPr>
          <p:cNvPr id="6" name="TextBox 5"/>
          <p:cNvSpPr txBox="1"/>
          <p:nvPr/>
        </p:nvSpPr>
        <p:spPr>
          <a:xfrm>
            <a:off x="731520" y="1481328"/>
            <a:ext cx="10725912" cy="502920"/>
          </a:xfrm>
          <a:prstGeom prst="rect">
            <a:avLst/>
          </a:prstGeom>
          <a:noFill/>
        </p:spPr>
        <p:txBody>
          <a:bodyPr wrap="square" lIns="0" rIns="0" tIns="0" bIns="0" anchor="t">
            <a:spAutoFit/>
          </a:bodyPr>
          <a:lstStyle/>
          <a:p>
            <a:pPr algn="l">
              <a:lnSpc>
                <a:spcPct val="100000"/>
              </a:lnSpc>
            </a:pPr>
            <a:r>
              <a:rPr sz="1400" b="0" i="0">
                <a:solidFill>
                  <a:srgbClr val="1A1A1A"/>
                </a:solidFill>
                <a:latin typeface="Arial"/>
              </a:rPr>
              <a:t>FORCE was excluded from the pilot because the extra compute and storage were not justified for a two-source comparison.</a:t>
            </a:r>
          </a:p>
        </p:txBody>
      </p:sp>
      <p:sp>
        <p:nvSpPr>
          <p:cNvPr id="7" name="Rectangle 6"/>
          <p:cNvSpPr/>
          <p:nvPr/>
        </p:nvSpPr>
        <p:spPr>
          <a:xfrm>
            <a:off x="731520" y="2057400"/>
            <a:ext cx="10725912" cy="1024128"/>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57984"/>
            <a:ext cx="10177272" cy="310896"/>
          </a:xfrm>
          <a:prstGeom prst="rect">
            <a:avLst/>
          </a:prstGeom>
          <a:noFill/>
        </p:spPr>
        <p:txBody>
          <a:bodyPr wrap="square" lIns="0" rIns="0" tIns="0" bIns="0" anchor="t">
            <a:spAutoFit/>
          </a:bodyPr>
          <a:lstStyle/>
          <a:p>
            <a:pPr algn="l">
              <a:lnSpc>
                <a:spcPct val="100000"/>
              </a:lnSpc>
            </a:pPr>
            <a:r>
              <a:rPr sz="1250" b="1" i="0">
                <a:solidFill>
                  <a:srgbClr val="000000"/>
                </a:solidFill>
                <a:latin typeface="Arial"/>
              </a:rPr>
              <a:t>What was kept and what was removed</a:t>
            </a:r>
          </a:p>
        </p:txBody>
      </p:sp>
      <p:sp>
        <p:nvSpPr>
          <p:cNvPr id="9" name="TextBox 8"/>
          <p:cNvSpPr txBox="1"/>
          <p:nvPr/>
        </p:nvSpPr>
        <p:spPr>
          <a:xfrm>
            <a:off x="1005840" y="2487168"/>
            <a:ext cx="10177272" cy="502920"/>
          </a:xfrm>
          <a:prstGeom prst="rect">
            <a:avLst/>
          </a:prstGeom>
          <a:noFill/>
        </p:spPr>
        <p:txBody>
          <a:bodyPr wrap="square" lIns="0" rIns="0" tIns="0" bIns="0" anchor="t">
            <a:spAutoFit/>
          </a:bodyPr>
          <a:lstStyle/>
          <a:p>
            <a:pPr algn="l">
              <a:lnSpc>
                <a:spcPct val="95000"/>
              </a:lnSpc>
            </a:pPr>
            <a:r>
              <a:rPr sz="1100" b="0" i="0">
                <a:solidFill>
                  <a:srgbClr val="1A1A1A"/>
                </a:solidFill>
                <a:latin typeface="Arial"/>
              </a:rPr>
              <a:t>The generated FORCE datasets were deleted from the local workspace and the upscale share. They are not recoverable in place but can be regenerated from source data. FORCE source code and configuration remain in the repository, and the images terravault/force:3.10.04-arm64-native and terravault/force:3.10.04-arm64 were retained.</a:t>
            </a:r>
          </a:p>
        </p:txBody>
      </p:sp>
      <p:sp>
        <p:nvSpPr>
          <p:cNvPr id="10" name="TextBox 9"/>
          <p:cNvSpPr txBox="1"/>
          <p:nvPr/>
        </p:nvSpPr>
        <p:spPr>
          <a:xfrm>
            <a:off x="731520" y="3337560"/>
            <a:ext cx="10725912" cy="274320"/>
          </a:xfrm>
          <a:prstGeom prst="rect">
            <a:avLst/>
          </a:prstGeom>
          <a:noFill/>
        </p:spPr>
        <p:txBody>
          <a:bodyPr wrap="square" lIns="0" rIns="0" tIns="0" bIns="0" anchor="t">
            <a:spAutoFit/>
          </a:bodyPr>
          <a:lstStyle/>
          <a:p>
            <a:pPr algn="l">
              <a:lnSpc>
                <a:spcPct val="100000"/>
              </a:lnSpc>
            </a:pPr>
            <a:r>
              <a:rPr sz="1100" b="1" i="0" spc="140">
                <a:solidFill>
                  <a:srgbClr val="215CAF"/>
                </a:solidFill>
                <a:latin typeface="Arial"/>
              </a:rPr>
              <a:t>THREE CHANGES REQUIRED BEFORE FORCE IS RUN AGAIN</a:t>
            </a:r>
          </a:p>
        </p:txBody>
      </p:sp>
      <p:sp>
        <p:nvSpPr>
          <p:cNvPr id="11" name="Rectangle 10"/>
          <p:cNvSpPr/>
          <p:nvPr/>
        </p:nvSpPr>
        <p:spPr>
          <a:xfrm>
            <a:off x="731520" y="3703320"/>
            <a:ext cx="3392424" cy="16002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171700" y="3922776"/>
            <a:ext cx="512064" cy="512064"/>
          </a:xfrm>
          <a:prstGeom prst="ellipse">
            <a:avLst/>
          </a:prstGeom>
          <a:solidFill>
            <a:srgbClr val="215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71700" y="3922776"/>
            <a:ext cx="512064" cy="512064"/>
          </a:xfrm>
          <a:prstGeom prst="rect">
            <a:avLst/>
          </a:prstGeom>
          <a:noFill/>
        </p:spPr>
        <p:txBody>
          <a:bodyPr wrap="square" lIns="0" rIns="0" tIns="0" bIns="0" anchor="ctr">
            <a:spAutoFit/>
          </a:bodyPr>
          <a:lstStyle/>
          <a:p>
            <a:pPr algn="ctr">
              <a:lnSpc>
                <a:spcPct val="100000"/>
              </a:lnSpc>
            </a:pPr>
            <a:r>
              <a:rPr sz="1900" b="1" i="0">
                <a:solidFill>
                  <a:srgbClr val="FFFFFF"/>
                </a:solidFill>
                <a:latin typeface="Arial"/>
              </a:rPr>
              <a:t>1</a:t>
            </a:r>
          </a:p>
        </p:txBody>
      </p:sp>
      <p:sp>
        <p:nvSpPr>
          <p:cNvPr id="14" name="TextBox 13"/>
          <p:cNvSpPr txBox="1"/>
          <p:nvPr/>
        </p:nvSpPr>
        <p:spPr>
          <a:xfrm>
            <a:off x="877824" y="4562856"/>
            <a:ext cx="3099816" cy="310896"/>
          </a:xfrm>
          <a:prstGeom prst="rect">
            <a:avLst/>
          </a:prstGeom>
          <a:noFill/>
        </p:spPr>
        <p:txBody>
          <a:bodyPr wrap="square" lIns="0" rIns="0" tIns="0" bIns="0" anchor="t">
            <a:spAutoFit/>
          </a:bodyPr>
          <a:lstStyle/>
          <a:p>
            <a:pPr algn="ctr">
              <a:lnSpc>
                <a:spcPct val="100000"/>
              </a:lnSpc>
            </a:pPr>
            <a:r>
              <a:rPr sz="1300" b="1" i="0">
                <a:solidFill>
                  <a:srgbClr val="000000"/>
                </a:solidFill>
                <a:latin typeface="Arial"/>
              </a:rPr>
              <a:t>Clip before materialising</a:t>
            </a:r>
          </a:p>
        </p:txBody>
      </p:sp>
      <p:sp>
        <p:nvSpPr>
          <p:cNvPr id="15" name="TextBox 14"/>
          <p:cNvSpPr txBox="1"/>
          <p:nvPr/>
        </p:nvSpPr>
        <p:spPr>
          <a:xfrm>
            <a:off x="932688" y="4892040"/>
            <a:ext cx="2990088" cy="365760"/>
          </a:xfrm>
          <a:prstGeom prst="rect">
            <a:avLst/>
          </a:prstGeom>
          <a:noFill/>
        </p:spPr>
        <p:txBody>
          <a:bodyPr wrap="square" lIns="0" rIns="0" tIns="0" bIns="0" anchor="t">
            <a:spAutoFit/>
          </a:bodyPr>
          <a:lstStyle/>
          <a:p>
            <a:pPr algn="ctr">
              <a:lnSpc>
                <a:spcPct val="92000"/>
              </a:lnSpc>
            </a:pPr>
            <a:r>
              <a:rPr sz="1050" b="0" i="0">
                <a:solidFill>
                  <a:srgbClr val="6F6F6F"/>
                </a:solidFill>
                <a:latin typeface="Arial"/>
              </a:rPr>
              <a:t>Clip every scene to the Swiss target extent before writing any full raster.</a:t>
            </a:r>
          </a:p>
        </p:txBody>
      </p:sp>
      <p:sp>
        <p:nvSpPr>
          <p:cNvPr id="16" name="Rectangle 15"/>
          <p:cNvSpPr/>
          <p:nvPr/>
        </p:nvSpPr>
        <p:spPr>
          <a:xfrm>
            <a:off x="4398264" y="3703320"/>
            <a:ext cx="3392424" cy="16002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38444" y="3922776"/>
            <a:ext cx="512064" cy="512064"/>
          </a:xfrm>
          <a:prstGeom prst="ellipse">
            <a:avLst/>
          </a:prstGeom>
          <a:solidFill>
            <a:srgbClr val="215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38444" y="3922776"/>
            <a:ext cx="512064" cy="512064"/>
          </a:xfrm>
          <a:prstGeom prst="rect">
            <a:avLst/>
          </a:prstGeom>
          <a:noFill/>
        </p:spPr>
        <p:txBody>
          <a:bodyPr wrap="square" lIns="0" rIns="0" tIns="0" bIns="0" anchor="ctr">
            <a:spAutoFit/>
          </a:bodyPr>
          <a:lstStyle/>
          <a:p>
            <a:pPr algn="ctr">
              <a:lnSpc>
                <a:spcPct val="100000"/>
              </a:lnSpc>
            </a:pPr>
            <a:r>
              <a:rPr sz="1900" b="1" i="0">
                <a:solidFill>
                  <a:srgbClr val="FFFFFF"/>
                </a:solidFill>
                <a:latin typeface="Arial"/>
              </a:rPr>
              <a:t>2</a:t>
            </a:r>
          </a:p>
        </p:txBody>
      </p:sp>
      <p:sp>
        <p:nvSpPr>
          <p:cNvPr id="19" name="TextBox 18"/>
          <p:cNvSpPr txBox="1"/>
          <p:nvPr/>
        </p:nvSpPr>
        <p:spPr>
          <a:xfrm>
            <a:off x="4544568" y="4562856"/>
            <a:ext cx="3099816" cy="310896"/>
          </a:xfrm>
          <a:prstGeom prst="rect">
            <a:avLst/>
          </a:prstGeom>
          <a:noFill/>
        </p:spPr>
        <p:txBody>
          <a:bodyPr wrap="square" lIns="0" rIns="0" tIns="0" bIns="0" anchor="t">
            <a:spAutoFit/>
          </a:bodyPr>
          <a:lstStyle/>
          <a:p>
            <a:pPr algn="ctr">
              <a:lnSpc>
                <a:spcPct val="100000"/>
              </a:lnSpc>
            </a:pPr>
            <a:r>
              <a:rPr sz="1300" b="1" i="0">
                <a:solidFill>
                  <a:srgbClr val="000000"/>
                </a:solidFill>
                <a:latin typeface="Arial"/>
              </a:rPr>
              <a:t>Bounded median</a:t>
            </a:r>
          </a:p>
        </p:txBody>
      </p:sp>
      <p:sp>
        <p:nvSpPr>
          <p:cNvPr id="20" name="TextBox 19"/>
          <p:cNvSpPr txBox="1"/>
          <p:nvPr/>
        </p:nvSpPr>
        <p:spPr>
          <a:xfrm>
            <a:off x="4599432" y="4892040"/>
            <a:ext cx="2990088" cy="365760"/>
          </a:xfrm>
          <a:prstGeom prst="rect">
            <a:avLst/>
          </a:prstGeom>
          <a:noFill/>
        </p:spPr>
        <p:txBody>
          <a:bodyPr wrap="square" lIns="0" rIns="0" tIns="0" bIns="0" anchor="t">
            <a:spAutoFit/>
          </a:bodyPr>
          <a:lstStyle/>
          <a:p>
            <a:pPr algn="ctr">
              <a:lnSpc>
                <a:spcPct val="92000"/>
              </a:lnSpc>
            </a:pPr>
            <a:r>
              <a:rPr sz="1050" b="0" i="0">
                <a:solidFill>
                  <a:srgbClr val="6F6F6F"/>
                </a:solidFill>
                <a:latin typeface="Arial"/>
              </a:rPr>
              <a:t>Replace the full-grid median with a bounded or streaming computation.</a:t>
            </a:r>
          </a:p>
        </p:txBody>
      </p:sp>
      <p:sp>
        <p:nvSpPr>
          <p:cNvPr id="21" name="Rectangle 20"/>
          <p:cNvSpPr/>
          <p:nvPr/>
        </p:nvSpPr>
        <p:spPr>
          <a:xfrm>
            <a:off x="8065008" y="3703320"/>
            <a:ext cx="3392424" cy="16002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505188" y="3922776"/>
            <a:ext cx="512064" cy="512064"/>
          </a:xfrm>
          <a:prstGeom prst="ellipse">
            <a:avLst/>
          </a:prstGeom>
          <a:solidFill>
            <a:srgbClr val="215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5188" y="3922776"/>
            <a:ext cx="512064" cy="512064"/>
          </a:xfrm>
          <a:prstGeom prst="rect">
            <a:avLst/>
          </a:prstGeom>
          <a:noFill/>
        </p:spPr>
        <p:txBody>
          <a:bodyPr wrap="square" lIns="0" rIns="0" tIns="0" bIns="0" anchor="ctr">
            <a:spAutoFit/>
          </a:bodyPr>
          <a:lstStyle/>
          <a:p>
            <a:pPr algn="ctr">
              <a:lnSpc>
                <a:spcPct val="100000"/>
              </a:lnSpc>
            </a:pPr>
            <a:r>
              <a:rPr sz="1900" b="1" i="0">
                <a:solidFill>
                  <a:srgbClr val="FFFFFF"/>
                </a:solidFill>
                <a:latin typeface="Arial"/>
              </a:rPr>
              <a:t>3</a:t>
            </a:r>
          </a:p>
        </p:txBody>
      </p:sp>
      <p:sp>
        <p:nvSpPr>
          <p:cNvPr id="24" name="TextBox 23"/>
          <p:cNvSpPr txBox="1"/>
          <p:nvPr/>
        </p:nvSpPr>
        <p:spPr>
          <a:xfrm>
            <a:off x="8211312" y="4562856"/>
            <a:ext cx="3099816" cy="310896"/>
          </a:xfrm>
          <a:prstGeom prst="rect">
            <a:avLst/>
          </a:prstGeom>
          <a:noFill/>
        </p:spPr>
        <p:txBody>
          <a:bodyPr wrap="square" lIns="0" rIns="0" tIns="0" bIns="0" anchor="t">
            <a:spAutoFit/>
          </a:bodyPr>
          <a:lstStyle/>
          <a:p>
            <a:pPr algn="ctr">
              <a:lnSpc>
                <a:spcPct val="100000"/>
              </a:lnSpc>
            </a:pPr>
            <a:r>
              <a:rPr sz="1300" b="1" i="0">
                <a:solidFill>
                  <a:srgbClr val="000000"/>
                </a:solidFill>
                <a:latin typeface="Arial"/>
              </a:rPr>
              <a:t>Storage preflight</a:t>
            </a:r>
          </a:p>
        </p:txBody>
      </p:sp>
      <p:sp>
        <p:nvSpPr>
          <p:cNvPr id="25" name="TextBox 24"/>
          <p:cNvSpPr txBox="1"/>
          <p:nvPr/>
        </p:nvSpPr>
        <p:spPr>
          <a:xfrm>
            <a:off x="8266176" y="4892040"/>
            <a:ext cx="2990088" cy="365760"/>
          </a:xfrm>
          <a:prstGeom prst="rect">
            <a:avLst/>
          </a:prstGeom>
          <a:noFill/>
        </p:spPr>
        <p:txBody>
          <a:bodyPr wrap="square" lIns="0" rIns="0" tIns="0" bIns="0" anchor="t">
            <a:spAutoFit/>
          </a:bodyPr>
          <a:lstStyle/>
          <a:p>
            <a:pPr algn="ctr">
              <a:lnSpc>
                <a:spcPct val="92000"/>
              </a:lnSpc>
            </a:pPr>
            <a:r>
              <a:rPr sz="1050" b="0" i="0">
                <a:solidFill>
                  <a:srgbClr val="6F6F6F"/>
                </a:solidFill>
                <a:latin typeface="Arial"/>
              </a:rPr>
              <a:t>Refuse to start unless a projected peak-storage check passes.</a:t>
            </a:r>
          </a:p>
        </p:txBody>
      </p:sp>
    </p:spTree>
  </p:cSld>
  <p:clrMapOvr>
    <a:masterClrMapping/>
  </p:clrMapOvr>
</p:sld>
</file>

<file path=ppt/theme/theme1.xml><?xml version="1.0" encoding="utf-8"?>
<a:theme xmlns:a="http://schemas.openxmlformats.org/drawingml/2006/main" name="ETH Zürich">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Präsentation3" id="{9C84984C-18ED-5E49-A574-15FF8A3954B8}" vid="{0B390235-9264-874C-ABEB-5D2188FC234E}"/>
    </a:ext>
  </a:extLst>
</a:theme>
</file>

<file path=ppt/theme/theme2.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1049</Words>
  <Application>Microsoft Macintosh PowerPoint</Application>
  <PresentationFormat>Breitbild</PresentationFormat>
  <Paragraphs>150</Paragraphs>
  <Slides>19</Slides>
  <Notes>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19</vt:i4>
      </vt:variant>
    </vt:vector>
  </HeadingPairs>
  <TitlesOfParts>
    <vt:vector size="22" baseType="lpstr">
      <vt:lpstr>Arial</vt:lpstr>
      <vt:lpstr>Symbol</vt:lpstr>
      <vt:lpstr>ETH Zürich</vt:lpstr>
      <vt:lpstr>Hier steht der Titel der Präsentation</vt:lpstr>
      <vt:lpstr>Hier steht der Titel der Präsentation</vt:lpstr>
      <vt:lpstr>Hier steht der Titel der Präsentation Dieser kann, wenn immer nötig, über zwei oder sogar drei Zeilen laufen</vt:lpstr>
      <vt:lpstr>Hier steht der Titel der Präsentation Dieser kann, wenn immer nötig, über zwei oder sogar drei Zeilen laufen</vt:lpstr>
      <vt:lpstr>Hier steht der Titel der Präsentation</vt:lpstr>
      <vt:lpstr>Inhaltsverzeichnis/Agenda</vt:lpstr>
      <vt:lpstr>Hier steht der Folientitel</vt:lpstr>
      <vt:lpstr>Hier steht der Folientitel</vt:lpstr>
      <vt:lpstr>Hier steht der Folientitel</vt:lpstr>
      <vt:lpstr>Hier steht der Folientitel</vt:lpstr>
      <vt:lpstr>Hier steht der Folientitel</vt:lpstr>
      <vt:lpstr>Hier steht ein Zwischentitel, ggf. auch über zwei Zeilen</vt:lpstr>
      <vt:lpstr>Hier steht der Folientitel, ggf. auch über zwei Zeilen</vt:lpstr>
      <vt:lpstr>PowerPoint-Präsentation</vt:lpstr>
      <vt:lpstr>Hier steht der Folientitel</vt:lpstr>
      <vt:lpstr>Hier steht der Folientitel</vt:lpstr>
      <vt:lpstr>Hier steht der Folientitel, ggf. auch über zwei Zeilen</vt:lpstr>
      <vt:lpstr>Hier steht der Folientitel</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Hier steht der Titel der Präsentation</dc:title>
  <dc:creator>Kuster  Josef (HK)</dc:creator>
  <cp:lastModifiedBy>Kuster  Josef (HK)</cp:lastModifiedBy>
  <cp:revision>1</cp:revision>
  <dcterms:created xsi:type="dcterms:W3CDTF">2023-05-24T07:32:52Z</dcterms:created>
  <dcterms:modified xsi:type="dcterms:W3CDTF">2023-05-24T07:33:40Z</dcterms:modified>
</cp:coreProperties>
</file>